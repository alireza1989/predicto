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94A3B8"/>
                </a:solidFill>
                <a:latin typeface="Arial"/>
              </a:defRPr>
            </a:pPr>
            <a:r>
              <a:rPr sz="1100" b="0" i="0" u="none" strike="noStrike">
                <a:solidFill>
                  <a:srgbClr val="94A3B8"/>
                </a:solidFill>
                <a:latin typeface="Arial"/>
              </a:rPr>
              <a:t>Log Loss Improvement (lower = better)</a:t>
            </a:r>
          </a:p>
        </c:rich>
      </c:tx>
      <c:layout/>
      <c:overlay val="0"/>
    </c:title>
    <c:autoTitleDeleted val="0"/>
    <c:plotArea>
      <c:layout/>
      <c:lineChart>
        <c:varyColors val="0"/>
        <c:ser>
          <c:idx val="0"/>
          <c:order val="0"/>
          <c:tx>
            <c:strRef>
              <c:f>Sheet1!$B$1</c:f>
              <c:strCache>
                <c:ptCount val="1"/>
                <c:pt idx="0">
                  <c:v>Log Loss</c:v>
                </c:pt>
              </c:strCache>
            </c:strRef>
          </c:tx>
          <c:spPr>
            <a:solidFill>
              <a:srgbClr val="E85D04"/>
            </a:solidFill>
            <a:ln w="38100" cap="flat">
              <a:solidFill>
                <a:srgbClr val="E85D0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85D04"/>
              </a:solidFill>
              <a:ln w="9525" cap="flat">
                <a:solidFill>
                  <a:srgbClr val="E85D04"/>
                </a:solidFill>
                <a:prstDash val="solid"/>
                <a:round/>
              </a:ln>
              <a:effectLst/>
            </c:spPr>
          </c:marker>
          <c:cat>
            <c:multiLvlStrRef>
              <c:f>Sheet1!$A$2:$A$6</c:f>
              <c:multiLvlStrCache>
                <c:ptCount val="5"/>
                <c:lvl>
                  <c:pt idx="0">
                    <c:v>Start</c:v>
                  </c:pt>
                  <c:pt idx="1">
                    <c:v>After Elo+Form</c:v>
                  </c:pt>
                  <c:pt idx="2">
                    <c:v>Feature Selection</c:v>
                  </c:pt>
                  <c:pt idx="3">
                    <c:v>Reg. Tuning</c:v>
                  </c:pt>
                  <c:pt idx="4">
                    <c:v>Player Data+Ridge</c:v>
                  </c:pt>
                </c:lvl>
              </c:multiLvlStrCache>
            </c:multiLvlStrRef>
          </c:cat>
          <c:val>
            <c:numRef>
              <c:f>Sheet1!$B$2:$B$6</c:f>
              <c:numCache>
                <c:formatCode>General</c:formatCode>
                <c:ptCount val="5"/>
                <c:pt idx="0">
                  <c:v>0.693</c:v>
                </c:pt>
                <c:pt idx="1">
                  <c:v>0.637</c:v>
                </c:pt>
                <c:pt idx="2">
                  <c:v>0.621</c:v>
                </c:pt>
                <c:pt idx="3">
                  <c:v>0.617</c:v>
                </c:pt>
                <c:pt idx="4">
                  <c:v>0.6161</c:v>
                </c:pt>
              </c:numCache>
            </c:numRef>
          </c:val>
          <c:smooth val="1"/>
        </c:ser>
        <c:ser>
          <c:idx val="1"/>
          <c:order val="1"/>
          <c:tx>
            <c:strRef>
              <c:f>Sheet1!$C$1</c:f>
              <c:strCache>
                <c:ptCount val="1"/>
                <c:pt idx="0">
                  <c:v>Random Baseline</c:v>
                </c:pt>
              </c:strCache>
            </c:strRef>
          </c:tx>
          <c:spPr>
            <a:solidFill>
              <a:srgbClr val="475569"/>
            </a:solidFill>
            <a:ln w="38100" cap="flat">
              <a:solidFill>
                <a:srgbClr val="47556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75569"/>
              </a:solidFill>
              <a:ln w="9525" cap="flat">
                <a:solidFill>
                  <a:srgbClr val="475569"/>
                </a:solidFill>
                <a:prstDash val="solid"/>
                <a:round/>
              </a:ln>
              <a:effectLst/>
            </c:spPr>
          </c:marker>
          <c:cat>
            <c:multiLvlStrRef>
              <c:f>Sheet1!$A$2:$A$6</c:f>
              <c:multiLvlStrCache>
                <c:ptCount val="5"/>
                <c:lvl>
                  <c:pt idx="0">
                    <c:v>Start</c:v>
                  </c:pt>
                  <c:pt idx="1">
                    <c:v>After Elo+Form</c:v>
                  </c:pt>
                  <c:pt idx="2">
                    <c:v>Feature Selection</c:v>
                  </c:pt>
                  <c:pt idx="3">
                    <c:v>Reg. Tuning</c:v>
                  </c:pt>
                  <c:pt idx="4">
                    <c:v>Player Data+Ridge</c:v>
                  </c:pt>
                </c:lvl>
              </c:multiLvlStrCache>
            </c:multiLvlStrRef>
          </c:cat>
          <c:val>
            <c:numRef>
              <c:f>Sheet1!$C$2:$C$6</c:f>
              <c:numCache>
                <c:formatCode>General</c:formatCode>
                <c:ptCount val="5"/>
                <c:pt idx="0">
                  <c:v>0.693</c:v>
                </c:pt>
                <c:pt idx="1">
                  <c:v>0.693</c:v>
                </c:pt>
                <c:pt idx="2">
                  <c:v>0.693</c:v>
                </c:pt>
                <c:pt idx="3">
                  <c:v>0.693</c:v>
                </c:pt>
                <c:pt idx="4">
                  <c:v>0.693</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2"/>
        <c:crosses val="autoZero"/>
        <c:auto val="1"/>
        <c:lblAlgn val="ctr"/>
        <c:noMultiLvlLbl val="1"/>
      </c:catAx>
      <c:valAx>
        <c:axId val="2094734552"/>
        <c:scaling>
          <c:orientation val="minMax"/>
          <c:max val="0.7"/>
          <c:min val="0.6"/>
        </c:scaling>
        <c:delete val="0"/>
        <c:axPos val="l"/>
        <c:majorGridlines>
          <c:spPr>
            <a:ln w="6350" cap="flat">
              <a:solidFill>
                <a:srgbClr val="2D3F5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a:solidFill>
                <a:srgbClr val="94A3B8"/>
              </a:solidFill>
            </a:defRPr>
          </a:pPr>
          <a:endParaRPr lang="en-US"/>
        </a:p>
      </c:txPr>
    </c:legend>
    <c:plotVisOnly val="1"/>
    <c:dispBlanksAs val="span"/>
  </c:chart>
  <c:spPr>
    <a:solidFill>
      <a:srgbClr val="1E293B"/>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94A3B8"/>
                </a:solidFill>
                <a:latin typeface="Arial"/>
              </a:defRPr>
            </a:pPr>
            <a:r>
              <a:rPr sz="1100" b="0" i="0" u="none" strike="noStrike">
                <a:solidFill>
                  <a:srgbClr val="94A3B8"/>
                </a:solidFill>
                <a:latin typeface="Arial"/>
              </a:rPr>
              <a:t>All Models Tested — Log Loss</a:t>
            </a:r>
          </a:p>
        </c:rich>
      </c:tx>
      <c:layout/>
      <c:overlay val="0"/>
    </c:title>
    <c:autoTitleDeleted val="0"/>
    <c:plotArea>
      <c:layout/>
      <c:barChart>
        <c:barDir val="col"/>
        <c:grouping val="clustered"/>
        <c:varyColors val="0"/>
        <c:ser>
          <c:idx val="0"/>
          <c:order val="0"/>
          <c:tx>
            <c:strRef>
              <c:f>Sheet1!$B$1</c:f>
              <c:strCache>
                <c:ptCount val="1"/>
                <c:pt idx="0">
                  <c:v>Log Loss (lower = better)</c:v>
                </c:pt>
              </c:strCache>
            </c:strRef>
          </c:tx>
          <c:spPr>
            <a:solidFill>
              <a:srgbClr val="E85D04"/>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E85D04"/>
              </a:solidFill>
              <a:effectLst/>
            </c:spPr>
          </c:dPt>
          <c:dPt>
            <c:idx val="1"/>
            <c:invertIfNegative val="0"/>
            <c:bubble3D val="0"/>
            <c:spPr>
              <a:solidFill>
                <a:srgbClr val="E87D30"/>
              </a:solidFill>
              <a:effectLst/>
            </c:spPr>
          </c:dPt>
          <c:dPt>
            <c:idx val="2"/>
            <c:invertIfNegative val="0"/>
            <c:bubble3D val="0"/>
            <c:spPr>
              <a:solidFill>
                <a:srgbClr val="475569"/>
              </a:solidFill>
              <a:effectLst/>
            </c:spPr>
          </c:dPt>
          <c:dPt>
            <c:idx val="3"/>
            <c:invertIfNegative val="0"/>
            <c:bubble3D val="0"/>
            <c:spPr>
              <a:solidFill>
                <a:srgbClr val="475569"/>
              </a:solidFill>
              <a:effectLst/>
            </c:spPr>
          </c:dPt>
          <c:dPt>
            <c:idx val="4"/>
            <c:invertIfNegative val="0"/>
            <c:bubble3D val="0"/>
            <c:spPr>
              <a:solidFill>
                <a:srgbClr val="475569"/>
              </a:solidFill>
              <a:effectLst/>
            </c:spPr>
          </c:dPt>
          <c:dPt>
            <c:idx val="5"/>
            <c:invertIfNegative val="0"/>
            <c:bubble3D val="0"/>
            <c:spPr>
              <a:solidFill>
                <a:srgbClr val="475569"/>
              </a:solidFill>
              <a:effectLst/>
            </c:spPr>
          </c:dPt>
          <c:cat>
            <c:multiLvlStrRef>
              <c:f>Sheet1!$A$2:$A$7</c:f>
              <c:multiLvlStrCache>
                <c:ptCount val="6"/>
                <c:lvl>
                  <c:pt idx="0">
                    <c:v>Ridge
Regression</c:v>
                  </c:pt>
                  <c:pt idx="1">
                    <c:v>Logistic
Regression</c:v>
                  </c:pt>
                  <c:pt idx="2">
                    <c:v>Gradient
Boosting</c:v>
                  </c:pt>
                  <c:pt idx="3">
                    <c:v>LightGBM</c:v>
                  </c:pt>
                  <c:pt idx="4">
                    <c:v>XGBoost</c:v>
                  </c:pt>
                  <c:pt idx="5">
                    <c:v>Neural
Network</c:v>
                  </c:pt>
                </c:lvl>
              </c:multiLvlStrCache>
            </c:multiLvlStrRef>
          </c:cat>
          <c:val>
            <c:numRef>
              <c:f>Sheet1!$B$2:$B$7</c:f>
              <c:numCache>
                <c:formatCode>General</c:formatCode>
                <c:ptCount val="6"/>
                <c:pt idx="0">
                  <c:v>0.6161</c:v>
                </c:pt>
                <c:pt idx="1">
                  <c:v>0.6174</c:v>
                </c:pt>
                <c:pt idx="2">
                  <c:v>0.6232</c:v>
                </c:pt>
                <c:pt idx="3">
                  <c:v>0.6248</c:v>
                </c:pt>
                <c:pt idx="4">
                  <c:v>0.6372</c:v>
                </c:pt>
                <c:pt idx="5">
                  <c:v>0.66</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2"/>
        <c:crosses val="autoZero"/>
        <c:auto val="1"/>
        <c:lblAlgn val="ctr"/>
        <c:noMultiLvlLbl val="1"/>
      </c:catAx>
      <c:valAx>
        <c:axId val="2094734552"/>
        <c:scaling>
          <c:orientation val="minMax"/>
          <c:max val="0.67"/>
          <c:min val="0.6"/>
        </c:scaling>
        <c:delete val="0"/>
        <c:axPos val="l"/>
        <c:majorGridlines>
          <c:spPr>
            <a:ln w="6350" cap="flat">
              <a:solidFill>
                <a:srgbClr val="2D3F5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E293B"/>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Predicto: an autonomous multi-agent AI system that predicts NBA game outcomes and finds edges against Polymarket prediction markets. It runs a 5-agent pipeline powered by Claude Sonnet and Opus. 'Cheap Schmidty' is a fun nickname. Key headline numbers: 65.8% accuracy, log loss 0.6161 (vs 0.693 random baseline = 11% better), $2-5 per full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core problems: 1) Prediction markets are efficient — hard to beat without a real edge. 2) Manual ML experimentation is slow — a human researcher can run maybe 5 experiments a day. 3) NBA signal is noisy — even perfect information only gets you ~60% accuracy. The opportunity is to automate the research loop so an AI can run 47 experiments in a few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is a 5-agent sequential pipeline. Each agent has a specific role. Data → Feature → Meta-Scientist → Eval → Report. The Meta-Scientist is powered by Claude Opus (most intelligent model) because it needs to reason about experiment design. All other agents use Sonnet for cost efficiency. Agents share data via files — no complex inter-agent messaging.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agent runs an autonomous tool-use loop — it receives a task, calls tools (fetch data, compute features, run experiments), and keeps looping until the task is done. The Meta-Scientist is particularly interesting: it reads a persistent markdown history file of everything it's learned in past runs, designs follow-up experiments based on that knowledge, runs them, and writes updated findings back. It accumulates knowledge like a real researcher.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pull from 4 data sources, all fetched automatically by the Data Agent. NBA game history gives us 5 seasons of results. Player game logs (130k rows) enable roster-strength features — we compute John Hollinger's Game Score per player to measure team quality. Advanced team stats give us efficiency metrics beyond win/loss. Polymarket odds tell us what the market thinks — we compare our model's probabilities against market prices to find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engineer 69+ features across 7 categories. Key insight: all features are computed in a leakage-free way — for each game we only use data from before that game date. We use TimeSeriesSplit cross-validation (not random splits) to respect temporal ordering. The player strength features are new — we use John Hollinger's Game Score to compute roster strength, star player form, team depth, and average plus/minus. These 14 features capture short-term team quality that Elo and rolling win%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Meta-Scientist is the core innovation. At the start of each run, it reads a persistent markdown history file containing learnings from all previous runs. It then designs new experiments based on what worked and what didn't. After running experiments with proper time-series cross-validation, it writes updated findings back to the history file. This creates a genuine learning loop — the AI researcher accumulates knowledge across iterations just like a human would. Over 10 iterations and 47 experiments, it converged on the optimal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performance arc shows consistent improvement across iterations. Starting at 0.693 (random baseline), we improved to 0.6161 — an 11% reduction in log loss. Accuracy sits at 65.8%, which is meaningful given that NBA games are only ~60% predictable even theoretically. All 47 experiments were run autonomously with zero human intervention in the actual experiment design. The model keeps improving with each new data source and feature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interesting finding from 47 autonomous experiments: simpler models always win. Ridge Regression (pure L2 regularization) beats Gradient Boosting, XGBoost, LightGBM, and Neural Networks — all of which have far more parameters. Why? NBA game outcomes are fundamentally linear. The relationship between team strength, rest, and win probability is approximately linear. Complex models overfit on the limited sample. This is a genuine scientific finding that the AI discovered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Flask dashboard runs on localhost:5001 and provides a complete control center. You can monitor live pipeline status with log streaming, see convergence charts and experiment breakdowns, and trigger new runs. The Agents page shows a visual flow diagram of all 5 agents and lets you edit each agent's system prompt directly in the browser — no code changes needed. This makes it easy to experiment with different prompting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deliberately lightweight. Claude handles the reasoning and experiment design. scikit-learn handles the actual ML. SQLite and Parquet provide durable storage without a database server. Flask gives us the web interface. The whole thing runs locally in a Python venv — no cloud infrastructure needed. Total codebase is about 2,500 lines of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is ordered by expected impact on log loss. Player features (#1) are done and contributed to the current best of 0.6161. The biggest remaining opportunity is more historical data — going from 5 to 8 seasons should give the model more patterns to learn from. Venue/travel features capture fatigue that rest days don't — a team flying from LA to Boston overnight is more tired than one that stayed home. Seasonal context and market prices as features round out the near-term opportunities.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vision: Predicto proves that autonomous ML research agents are feasible today, using Claude. NBA prediction is just a concrete domain to demonstrate the concept. The same architecture — Data Agent → Feature Agent → Meta-Scientist → Eval → Report — could apply to medical outcome prediction, financial forecasting, churn prediction, or any domain with historical labeled data. The Meta-Scientist loop is the key innovation: a self-improving AI researcher that gets better with every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0" y="-1645920"/>
            <a:ext cx="3291840" cy="3291840"/>
          </a:xfrm>
          <a:prstGeom prst="ellipse">
            <a:avLst/>
          </a:prstGeom>
          <a:solidFill>
            <a:srgbClr val="1E293B"/>
          </a:solidFill>
          <a:ln/>
        </p:spPr>
      </p:sp>
      <p:sp>
        <p:nvSpPr>
          <p:cNvPr id="3" name="Shape 1"/>
          <p:cNvSpPr/>
          <p:nvPr/>
        </p:nvSpPr>
        <p:spPr>
          <a:xfrm>
            <a:off x="8412480" y="-640080"/>
            <a:ext cx="1828800" cy="1828800"/>
          </a:xfrm>
          <a:prstGeom prst="ellipse">
            <a:avLst/>
          </a:prstGeom>
          <a:solidFill>
            <a:srgbClr val="243044"/>
          </a:solidFill>
          <a:ln/>
        </p:spPr>
      </p:sp>
      <p:sp>
        <p:nvSpPr>
          <p:cNvPr id="4" name="Shape 2"/>
          <p:cNvSpPr/>
          <p:nvPr/>
        </p:nvSpPr>
        <p:spPr>
          <a:xfrm>
            <a:off x="0" y="0"/>
            <a:ext cx="109728" cy="5143500"/>
          </a:xfrm>
          <a:prstGeom prst="rect">
            <a:avLst/>
          </a:prstGeom>
          <a:solidFill>
            <a:srgbClr val="E85D04"/>
          </a:solidFill>
          <a:ln/>
        </p:spPr>
      </p:sp>
      <p:sp>
        <p:nvSpPr>
          <p:cNvPr id="5" name="Text 3"/>
          <p:cNvSpPr/>
          <p:nvPr/>
        </p:nvSpPr>
        <p:spPr>
          <a:xfrm>
            <a:off x="365760" y="914400"/>
            <a:ext cx="8412480" cy="1097280"/>
          </a:xfrm>
          <a:prstGeom prst="rect">
            <a:avLst/>
          </a:prstGeom>
          <a:noFill/>
          <a:ln/>
        </p:spPr>
        <p:txBody>
          <a:bodyPr wrap="square" lIns="0" tIns="0" rIns="0" bIns="0" rtlCol="0" anchor="ctr"/>
          <a:lstStyle/>
          <a:p>
            <a:pPr indent="0" marL="0">
              <a:buNone/>
            </a:pPr>
            <a:r>
              <a:rPr lang="en-US" sz="7200" b="1" spc="800" kern="0" dirty="0">
                <a:solidFill>
                  <a:srgbClr val="FFFFFF"/>
                </a:solidFill>
                <a:latin typeface="Arial Black" pitchFamily="34" charset="0"/>
                <a:ea typeface="Arial Black" pitchFamily="34" charset="-122"/>
                <a:cs typeface="Arial Black" pitchFamily="34" charset="-120"/>
              </a:rPr>
              <a:t>PREDICTO</a:t>
            </a:r>
            <a:endParaRPr lang="en-US" sz="7200" dirty="0"/>
          </a:p>
        </p:txBody>
      </p:sp>
      <p:sp>
        <p:nvSpPr>
          <p:cNvPr id="6" name="Shape 4"/>
          <p:cNvSpPr/>
          <p:nvPr/>
        </p:nvSpPr>
        <p:spPr>
          <a:xfrm>
            <a:off x="237744" y="804672"/>
            <a:ext cx="219456" cy="219456"/>
          </a:xfrm>
          <a:prstGeom prst="ellipse">
            <a:avLst/>
          </a:prstGeom>
          <a:solidFill>
            <a:srgbClr val="E85D04"/>
          </a:solidFill>
          <a:ln/>
        </p:spPr>
      </p:sp>
      <p:sp>
        <p:nvSpPr>
          <p:cNvPr id="7" name="Text 5"/>
          <p:cNvSpPr/>
          <p:nvPr/>
        </p:nvSpPr>
        <p:spPr>
          <a:xfrm>
            <a:off x="365760" y="2103120"/>
            <a:ext cx="7315200" cy="502920"/>
          </a:xfrm>
          <a:prstGeom prst="rect">
            <a:avLst/>
          </a:prstGeom>
          <a:noFill/>
          <a:ln/>
        </p:spPr>
        <p:txBody>
          <a:bodyPr wrap="square" lIns="0" tIns="0" rIns="0" bIns="0" rtlCol="0" anchor="ctr"/>
          <a:lstStyle/>
          <a:p>
            <a:pPr indent="0" marL="0">
              <a:buNone/>
            </a:pPr>
            <a:r>
              <a:rPr lang="en-US" sz="2200" i="1" dirty="0">
                <a:solidFill>
                  <a:srgbClr val="FF7A30"/>
                </a:solidFill>
                <a:latin typeface="Calibri" pitchFamily="34" charset="0"/>
                <a:ea typeface="Calibri" pitchFamily="34" charset="-122"/>
                <a:cs typeface="Calibri" pitchFamily="34" charset="-120"/>
              </a:rPr>
              <a:t>Autonomous NBA Prediction via Multi-Agent AI</a:t>
            </a:r>
            <a:endParaRPr lang="en-US" sz="2200" dirty="0"/>
          </a:p>
        </p:txBody>
      </p:sp>
      <p:sp>
        <p:nvSpPr>
          <p:cNvPr id="8" name="Text 6"/>
          <p:cNvSpPr/>
          <p:nvPr/>
        </p:nvSpPr>
        <p:spPr>
          <a:xfrm>
            <a:off x="365760" y="2651760"/>
            <a:ext cx="7315200" cy="365760"/>
          </a:xfrm>
          <a:prstGeom prst="rect">
            <a:avLst/>
          </a:prstGeom>
          <a:noFill/>
          <a:ln/>
        </p:spPr>
        <p:txBody>
          <a:bodyPr wrap="square" lIns="0" tIns="0" rIns="0" bIns="0" rtlCol="0" anchor="ctr"/>
          <a:lstStyle/>
          <a:p>
            <a:pPr indent="0" marL="0">
              <a:buNone/>
            </a:pPr>
            <a:r>
              <a:rPr lang="en-US" sz="1500" dirty="0">
                <a:solidFill>
                  <a:srgbClr val="94A3B8"/>
                </a:solidFill>
                <a:latin typeface="Calibri" pitchFamily="34" charset="0"/>
                <a:ea typeface="Calibri" pitchFamily="34" charset="-122"/>
                <a:cs typeface="Calibri" pitchFamily="34" charset="-120"/>
              </a:rPr>
              <a:t>AKA "Cheap Schmidty"</a:t>
            </a:r>
            <a:endParaRPr lang="en-US" sz="1500" dirty="0"/>
          </a:p>
        </p:txBody>
      </p:sp>
      <p:sp>
        <p:nvSpPr>
          <p:cNvPr id="9" name="Shape 7"/>
          <p:cNvSpPr/>
          <p:nvPr/>
        </p:nvSpPr>
        <p:spPr>
          <a:xfrm>
            <a:off x="365760" y="3154680"/>
            <a:ext cx="4572000" cy="36576"/>
          </a:xfrm>
          <a:prstGeom prst="rect">
            <a:avLst/>
          </a:prstGeom>
          <a:solidFill>
            <a:srgbClr val="475569"/>
          </a:solidFill>
          <a:ln/>
        </p:spPr>
      </p:sp>
      <p:sp>
        <p:nvSpPr>
          <p:cNvPr id="10" name="Text 8"/>
          <p:cNvSpPr/>
          <p:nvPr/>
        </p:nvSpPr>
        <p:spPr>
          <a:xfrm>
            <a:off x="365760" y="3291840"/>
            <a:ext cx="8229600" cy="3657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Built on Anthropic Claude Agent SDK  ·  47 autonomous experiments  ·  65.8% accuracy</a:t>
            </a:r>
            <a:endParaRPr lang="en-US" sz="1200" dirty="0"/>
          </a:p>
        </p:txBody>
      </p:sp>
      <p:sp>
        <p:nvSpPr>
          <p:cNvPr id="11" name="Text 9"/>
          <p:cNvSpPr/>
          <p:nvPr/>
        </p:nvSpPr>
        <p:spPr>
          <a:xfrm>
            <a:off x="365760" y="3840480"/>
            <a:ext cx="1920240" cy="502920"/>
          </a:xfrm>
          <a:prstGeom prst="rect">
            <a:avLst/>
          </a:prstGeom>
          <a:noFill/>
          <a:ln/>
        </p:spPr>
        <p:txBody>
          <a:bodyPr wrap="square" lIns="0" tIns="0" rIns="0" bIns="0" rtlCol="0" anchor="ctr"/>
          <a:lstStyle/>
          <a:p>
            <a:pPr indent="0" marL="0">
              <a:buNone/>
            </a:pPr>
            <a:r>
              <a:rPr lang="en-US" sz="2600" b="1" dirty="0">
                <a:solidFill>
                  <a:srgbClr val="E85D04"/>
                </a:solidFill>
                <a:latin typeface="Arial Black" pitchFamily="34" charset="0"/>
                <a:ea typeface="Arial Black" pitchFamily="34" charset="-122"/>
                <a:cs typeface="Arial Black" pitchFamily="34" charset="-120"/>
              </a:rPr>
              <a:t>0.6161</a:t>
            </a:r>
            <a:endParaRPr lang="en-US" sz="2600" dirty="0"/>
          </a:p>
        </p:txBody>
      </p:sp>
      <p:sp>
        <p:nvSpPr>
          <p:cNvPr id="12" name="Text 10"/>
          <p:cNvSpPr/>
          <p:nvPr/>
        </p:nvSpPr>
        <p:spPr>
          <a:xfrm>
            <a:off x="365760" y="4343400"/>
            <a:ext cx="192024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Best Log Loss</a:t>
            </a:r>
            <a:endParaRPr lang="en-US" sz="1000" dirty="0"/>
          </a:p>
        </p:txBody>
      </p:sp>
      <p:sp>
        <p:nvSpPr>
          <p:cNvPr id="13" name="Text 11"/>
          <p:cNvSpPr/>
          <p:nvPr/>
        </p:nvSpPr>
        <p:spPr>
          <a:xfrm>
            <a:off x="2468880" y="3840480"/>
            <a:ext cx="1920240" cy="502920"/>
          </a:xfrm>
          <a:prstGeom prst="rect">
            <a:avLst/>
          </a:prstGeom>
          <a:noFill/>
          <a:ln/>
        </p:spPr>
        <p:txBody>
          <a:bodyPr wrap="square" lIns="0" tIns="0" rIns="0" bIns="0" rtlCol="0" anchor="ctr"/>
          <a:lstStyle/>
          <a:p>
            <a:pPr indent="0" marL="0">
              <a:buNone/>
            </a:pPr>
            <a:r>
              <a:rPr lang="en-US" sz="2600" b="1" dirty="0">
                <a:solidFill>
                  <a:srgbClr val="E85D04"/>
                </a:solidFill>
                <a:latin typeface="Arial Black" pitchFamily="34" charset="0"/>
                <a:ea typeface="Arial Black" pitchFamily="34" charset="-122"/>
                <a:cs typeface="Arial Black" pitchFamily="34" charset="-120"/>
              </a:rPr>
              <a:t>65.8%</a:t>
            </a:r>
            <a:endParaRPr lang="en-US" sz="2600" dirty="0"/>
          </a:p>
        </p:txBody>
      </p:sp>
      <p:sp>
        <p:nvSpPr>
          <p:cNvPr id="14" name="Text 12"/>
          <p:cNvSpPr/>
          <p:nvPr/>
        </p:nvSpPr>
        <p:spPr>
          <a:xfrm>
            <a:off x="2468880" y="4343400"/>
            <a:ext cx="192024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Accuracy</a:t>
            </a:r>
            <a:endParaRPr lang="en-US" sz="1000" dirty="0"/>
          </a:p>
        </p:txBody>
      </p:sp>
      <p:sp>
        <p:nvSpPr>
          <p:cNvPr id="15" name="Text 13"/>
          <p:cNvSpPr/>
          <p:nvPr/>
        </p:nvSpPr>
        <p:spPr>
          <a:xfrm>
            <a:off x="4572000" y="3840480"/>
            <a:ext cx="1920240" cy="502920"/>
          </a:xfrm>
          <a:prstGeom prst="rect">
            <a:avLst/>
          </a:prstGeom>
          <a:noFill/>
          <a:ln/>
        </p:spPr>
        <p:txBody>
          <a:bodyPr wrap="square" lIns="0" tIns="0" rIns="0" bIns="0" rtlCol="0" anchor="ctr"/>
          <a:lstStyle/>
          <a:p>
            <a:pPr indent="0" marL="0">
              <a:buNone/>
            </a:pPr>
            <a:r>
              <a:rPr lang="en-US" sz="2600" b="1" dirty="0">
                <a:solidFill>
                  <a:srgbClr val="E85D04"/>
                </a:solidFill>
                <a:latin typeface="Arial Black" pitchFamily="34" charset="0"/>
                <a:ea typeface="Arial Black" pitchFamily="34" charset="-122"/>
                <a:cs typeface="Arial Black" pitchFamily="34" charset="-120"/>
              </a:rPr>
              <a:t>$2–5</a:t>
            </a:r>
            <a:endParaRPr lang="en-US" sz="2600" dirty="0"/>
          </a:p>
        </p:txBody>
      </p:sp>
      <p:sp>
        <p:nvSpPr>
          <p:cNvPr id="16" name="Text 14"/>
          <p:cNvSpPr/>
          <p:nvPr/>
        </p:nvSpPr>
        <p:spPr>
          <a:xfrm>
            <a:off x="4572000" y="4343400"/>
            <a:ext cx="192024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Cost per Run</a:t>
            </a:r>
            <a:endParaRPr lang="en-US" sz="1000" dirty="0"/>
          </a:p>
        </p:txBody>
      </p:sp>
      <p:sp>
        <p:nvSpPr>
          <p:cNvPr id="17" name="Text 15"/>
          <p:cNvSpPr/>
          <p:nvPr/>
        </p:nvSpPr>
        <p:spPr>
          <a:xfrm>
            <a:off x="6675120" y="3840480"/>
            <a:ext cx="1920240" cy="502920"/>
          </a:xfrm>
          <a:prstGeom prst="rect">
            <a:avLst/>
          </a:prstGeom>
          <a:noFill/>
          <a:ln/>
        </p:spPr>
        <p:txBody>
          <a:bodyPr wrap="square" lIns="0" tIns="0" rIns="0" bIns="0" rtlCol="0" anchor="ctr"/>
          <a:lstStyle/>
          <a:p>
            <a:pPr indent="0" marL="0">
              <a:buNone/>
            </a:pPr>
            <a:r>
              <a:rPr lang="en-US" sz="2600" b="1" dirty="0">
                <a:solidFill>
                  <a:srgbClr val="E85D04"/>
                </a:solidFill>
                <a:latin typeface="Arial Black" pitchFamily="34" charset="0"/>
                <a:ea typeface="Arial Black" pitchFamily="34" charset="-122"/>
                <a:cs typeface="Arial Black" pitchFamily="34" charset="-120"/>
              </a:rPr>
              <a:t>5 min</a:t>
            </a:r>
            <a:endParaRPr lang="en-US" sz="2600" dirty="0"/>
          </a:p>
        </p:txBody>
      </p:sp>
      <p:sp>
        <p:nvSpPr>
          <p:cNvPr id="18" name="Text 16"/>
          <p:cNvSpPr/>
          <p:nvPr/>
        </p:nvSpPr>
        <p:spPr>
          <a:xfrm>
            <a:off x="6675120" y="4343400"/>
            <a:ext cx="192024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Pipeline Time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The Problem</a:t>
            </a:r>
            <a:endParaRPr lang="en-US" sz="2600" dirty="0"/>
          </a:p>
        </p:txBody>
      </p:sp>
      <p:sp>
        <p:nvSpPr>
          <p:cNvPr id="3" name="Shape 1"/>
          <p:cNvSpPr/>
          <p:nvPr/>
        </p:nvSpPr>
        <p:spPr>
          <a:xfrm>
            <a:off x="457200" y="868680"/>
            <a:ext cx="1097280" cy="50292"/>
          </a:xfrm>
          <a:prstGeom prst="rect">
            <a:avLst/>
          </a:prstGeom>
          <a:solidFill>
            <a:srgbClr val="E85D04"/>
          </a:solidFill>
          <a:ln/>
        </p:spPr>
      </p:sp>
      <p:sp>
        <p:nvSpPr>
          <p:cNvPr id="4" name="Text 2"/>
          <p:cNvSpPr/>
          <p:nvPr/>
        </p:nvSpPr>
        <p:spPr>
          <a:xfrm>
            <a:off x="457200" y="914400"/>
            <a:ext cx="82296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Why is NBA prediction hard?</a:t>
            </a:r>
            <a:endParaRPr lang="en-US" sz="1300" dirty="0"/>
          </a:p>
        </p:txBody>
      </p:sp>
      <p:sp>
        <p:nvSpPr>
          <p:cNvPr id="5" name="Shape 3"/>
          <p:cNvSpPr/>
          <p:nvPr/>
        </p:nvSpPr>
        <p:spPr>
          <a:xfrm>
            <a:off x="320040" y="1371600"/>
            <a:ext cx="2697480" cy="338328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6" name="Shape 4"/>
          <p:cNvSpPr/>
          <p:nvPr/>
        </p:nvSpPr>
        <p:spPr>
          <a:xfrm>
            <a:off x="320040" y="1371600"/>
            <a:ext cx="50292" cy="3383280"/>
          </a:xfrm>
          <a:prstGeom prst="rect">
            <a:avLst/>
          </a:prstGeom>
          <a:solidFill>
            <a:srgbClr val="E85D04"/>
          </a:solidFill>
          <a:ln/>
        </p:spPr>
      </p:sp>
      <p:sp>
        <p:nvSpPr>
          <p:cNvPr id="7" name="Text 5"/>
          <p:cNvSpPr/>
          <p:nvPr/>
        </p:nvSpPr>
        <p:spPr>
          <a:xfrm>
            <a:off x="411480" y="1508760"/>
            <a:ext cx="2514600" cy="54864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8" name="Text 6"/>
          <p:cNvSpPr/>
          <p:nvPr/>
        </p:nvSpPr>
        <p:spPr>
          <a:xfrm>
            <a:off x="411480" y="2148840"/>
            <a:ext cx="2514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Markets Are Efficient</a:t>
            </a:r>
            <a:endParaRPr lang="en-US" sz="1400" dirty="0"/>
          </a:p>
        </p:txBody>
      </p:sp>
      <p:sp>
        <p:nvSpPr>
          <p:cNvPr id="9" name="Text 7"/>
          <p:cNvSpPr/>
          <p:nvPr/>
        </p:nvSpPr>
        <p:spPr>
          <a:xfrm>
            <a:off x="484632" y="2697480"/>
            <a:ext cx="2377440" cy="1737360"/>
          </a:xfrm>
          <a:prstGeom prst="rect">
            <a:avLst/>
          </a:prstGeom>
          <a:noFill/>
          <a:ln/>
        </p:spPr>
        <p:txBody>
          <a:bodyPr wrap="square" lIns="0" tIns="0" rIns="0" bIns="0" rtlCol="0" anchor="t"/>
          <a:lstStyle/>
          <a:p>
            <a:pPr algn="l" indent="0" marL="0">
              <a:buNone/>
            </a:pPr>
            <a:r>
              <a:rPr lang="en-US" sz="1150" dirty="0">
                <a:solidFill>
                  <a:srgbClr val="94A3B8"/>
                </a:solidFill>
                <a:latin typeface="Calibri" pitchFamily="34" charset="0"/>
                <a:ea typeface="Calibri" pitchFamily="34" charset="-122"/>
                <a:cs typeface="Calibri" pitchFamily="34" charset="-120"/>
              </a:rPr>
              <a:t>Prediction markets like Polymarket aggregate thousands of bettors. Beating consensus probability requires a genuine information or modeling edge.</a:t>
            </a:r>
            <a:endParaRPr lang="en-US" sz="1150" dirty="0"/>
          </a:p>
        </p:txBody>
      </p:sp>
      <p:sp>
        <p:nvSpPr>
          <p:cNvPr id="10" name="Shape 8"/>
          <p:cNvSpPr/>
          <p:nvPr/>
        </p:nvSpPr>
        <p:spPr>
          <a:xfrm>
            <a:off x="3200400" y="1371600"/>
            <a:ext cx="2697480" cy="338328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1" name="Shape 9"/>
          <p:cNvSpPr/>
          <p:nvPr/>
        </p:nvSpPr>
        <p:spPr>
          <a:xfrm>
            <a:off x="3200400" y="1371600"/>
            <a:ext cx="50292" cy="3383280"/>
          </a:xfrm>
          <a:prstGeom prst="rect">
            <a:avLst/>
          </a:prstGeom>
          <a:solidFill>
            <a:srgbClr val="E85D04"/>
          </a:solidFill>
          <a:ln/>
        </p:spPr>
      </p:sp>
      <p:sp>
        <p:nvSpPr>
          <p:cNvPr id="12" name="Text 10"/>
          <p:cNvSpPr/>
          <p:nvPr/>
        </p:nvSpPr>
        <p:spPr>
          <a:xfrm>
            <a:off x="3291840" y="1508760"/>
            <a:ext cx="2514600" cy="54864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13" name="Text 11"/>
          <p:cNvSpPr/>
          <p:nvPr/>
        </p:nvSpPr>
        <p:spPr>
          <a:xfrm>
            <a:off x="3291840" y="2148840"/>
            <a:ext cx="2514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Manual ML is Slow</a:t>
            </a:r>
            <a:endParaRPr lang="en-US" sz="1400" dirty="0"/>
          </a:p>
        </p:txBody>
      </p:sp>
      <p:sp>
        <p:nvSpPr>
          <p:cNvPr id="14" name="Text 12"/>
          <p:cNvSpPr/>
          <p:nvPr/>
        </p:nvSpPr>
        <p:spPr>
          <a:xfrm>
            <a:off x="3364992" y="2697480"/>
            <a:ext cx="2377440" cy="1737360"/>
          </a:xfrm>
          <a:prstGeom prst="rect">
            <a:avLst/>
          </a:prstGeom>
          <a:noFill/>
          <a:ln/>
        </p:spPr>
        <p:txBody>
          <a:bodyPr wrap="square" lIns="0" tIns="0" rIns="0" bIns="0" rtlCol="0" anchor="t"/>
          <a:lstStyle/>
          <a:p>
            <a:pPr algn="l" indent="0" marL="0">
              <a:buNone/>
            </a:pPr>
            <a:r>
              <a:rPr lang="en-US" sz="1150" dirty="0">
                <a:solidFill>
                  <a:srgbClr val="94A3B8"/>
                </a:solidFill>
                <a:latin typeface="Calibri" pitchFamily="34" charset="0"/>
                <a:ea typeface="Calibri" pitchFamily="34" charset="-122"/>
                <a:cs typeface="Calibri" pitchFamily="34" charset="-120"/>
              </a:rPr>
              <a:t>A data scientist running experiments one-by-one takes weeks. Feature engineering, cross-validation, hyperparameter tuning — all time-consuming.</a:t>
            </a:r>
            <a:endParaRPr lang="en-US" sz="1150" dirty="0"/>
          </a:p>
        </p:txBody>
      </p:sp>
      <p:sp>
        <p:nvSpPr>
          <p:cNvPr id="15" name="Shape 13"/>
          <p:cNvSpPr/>
          <p:nvPr/>
        </p:nvSpPr>
        <p:spPr>
          <a:xfrm>
            <a:off x="6080760" y="1371600"/>
            <a:ext cx="2697480" cy="338328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6" name="Shape 14"/>
          <p:cNvSpPr/>
          <p:nvPr/>
        </p:nvSpPr>
        <p:spPr>
          <a:xfrm>
            <a:off x="6080760" y="1371600"/>
            <a:ext cx="50292" cy="3383280"/>
          </a:xfrm>
          <a:prstGeom prst="rect">
            <a:avLst/>
          </a:prstGeom>
          <a:solidFill>
            <a:srgbClr val="E85D04"/>
          </a:solidFill>
          <a:ln/>
        </p:spPr>
      </p:sp>
      <p:sp>
        <p:nvSpPr>
          <p:cNvPr id="17" name="Text 15"/>
          <p:cNvSpPr/>
          <p:nvPr/>
        </p:nvSpPr>
        <p:spPr>
          <a:xfrm>
            <a:off x="6172200" y="1508760"/>
            <a:ext cx="2514600" cy="54864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18" name="Text 16"/>
          <p:cNvSpPr/>
          <p:nvPr/>
        </p:nvSpPr>
        <p:spPr>
          <a:xfrm>
            <a:off x="6172200" y="2148840"/>
            <a:ext cx="2514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Signal is Noisy</a:t>
            </a:r>
            <a:endParaRPr lang="en-US" sz="1400" dirty="0"/>
          </a:p>
        </p:txBody>
      </p:sp>
      <p:sp>
        <p:nvSpPr>
          <p:cNvPr id="19" name="Text 17"/>
          <p:cNvSpPr/>
          <p:nvPr/>
        </p:nvSpPr>
        <p:spPr>
          <a:xfrm>
            <a:off x="6245352" y="2697480"/>
            <a:ext cx="2377440" cy="1737360"/>
          </a:xfrm>
          <a:prstGeom prst="rect">
            <a:avLst/>
          </a:prstGeom>
          <a:noFill/>
          <a:ln/>
        </p:spPr>
        <p:txBody>
          <a:bodyPr wrap="square" lIns="0" tIns="0" rIns="0" bIns="0" rtlCol="0" anchor="t"/>
          <a:lstStyle/>
          <a:p>
            <a:pPr algn="l" indent="0" marL="0">
              <a:buNone/>
            </a:pPr>
            <a:r>
              <a:rPr lang="en-US" sz="1150" dirty="0">
                <a:solidFill>
                  <a:srgbClr val="94A3B8"/>
                </a:solidFill>
                <a:latin typeface="Calibri" pitchFamily="34" charset="0"/>
                <a:ea typeface="Calibri" pitchFamily="34" charset="-122"/>
                <a:cs typeface="Calibri" pitchFamily="34" charset="-120"/>
              </a:rPr>
              <a:t>NBA games are ~60% predictable even theoretically. With 82-game seasons, sample sizes are small and variance is high. Simple models often win.</a:t>
            </a:r>
            <a:endParaRPr lang="en-US" sz="1150" dirty="0"/>
          </a:p>
        </p:txBody>
      </p:sp>
      <p:sp>
        <p:nvSpPr>
          <p:cNvPr id="20" name="Shape 18"/>
          <p:cNvSpPr/>
          <p:nvPr/>
        </p:nvSpPr>
        <p:spPr>
          <a:xfrm>
            <a:off x="320040" y="4709160"/>
            <a:ext cx="8503920" cy="292608"/>
          </a:xfrm>
          <a:prstGeom prst="rect">
            <a:avLst/>
          </a:prstGeom>
          <a:solidFill>
            <a:srgbClr val="162032"/>
          </a:solidFill>
          <a:ln/>
          <a:effectLst>
            <a:outerShdw sx="100000" sy="100000" kx="0" ky="0" algn="bl" rotWithShape="0" blurRad="101600" dist="38100" dir="8100000">
              <a:srgbClr val="000000">
                <a:alpha val="25000"/>
              </a:srgbClr>
            </a:outerShdw>
          </a:effectLst>
        </p:spPr>
      </p:sp>
      <p:sp>
        <p:nvSpPr>
          <p:cNvPr id="21" name="Text 19"/>
          <p:cNvSpPr/>
          <p:nvPr/>
        </p:nvSpPr>
        <p:spPr>
          <a:xfrm>
            <a:off x="502920" y="4736592"/>
            <a:ext cx="8229600" cy="256032"/>
          </a:xfrm>
          <a:prstGeom prst="rect">
            <a:avLst/>
          </a:prstGeom>
          <a:noFill/>
          <a:ln/>
        </p:spPr>
        <p:txBody>
          <a:bodyPr wrap="square" lIns="0" tIns="0" rIns="0" bIns="0" rtlCol="0" anchor="ctr"/>
          <a:lstStyle/>
          <a:p>
            <a:pPr indent="0" marL="0">
              <a:buNone/>
            </a:pPr>
            <a:r>
              <a:rPr lang="en-US" sz="1150" i="1" dirty="0">
                <a:solidFill>
                  <a:srgbClr val="FF7A30"/>
                </a:solidFill>
                <a:latin typeface="Calibri" pitchFamily="34" charset="0"/>
                <a:ea typeface="Calibri" pitchFamily="34" charset="-122"/>
                <a:cs typeface="Calibri" pitchFamily="34" charset="-120"/>
              </a:rPr>
              <a:t>The opportunity: automate the full research loop so a machine runs hundreds of experiments overnight.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The Solution</a:t>
            </a:r>
            <a:endParaRPr lang="en-US" sz="2600" dirty="0"/>
          </a:p>
        </p:txBody>
      </p:sp>
      <p:sp>
        <p:nvSpPr>
          <p:cNvPr id="3" name="Shape 1"/>
          <p:cNvSpPr/>
          <p:nvPr/>
        </p:nvSpPr>
        <p:spPr>
          <a:xfrm>
            <a:off x="457200" y="868680"/>
            <a:ext cx="1097280" cy="50292"/>
          </a:xfrm>
          <a:prstGeom prst="rect">
            <a:avLst/>
          </a:prstGeom>
          <a:solidFill>
            <a:srgbClr val="E85D04"/>
          </a:solidFill>
          <a:ln/>
        </p:spPr>
      </p:sp>
      <p:sp>
        <p:nvSpPr>
          <p:cNvPr id="4" name="Text 2"/>
          <p:cNvSpPr/>
          <p:nvPr/>
        </p:nvSpPr>
        <p:spPr>
          <a:xfrm>
            <a:off x="457200" y="914400"/>
            <a:ext cx="82296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A 5-agent autonomous ML pipeline that runs itself</a:t>
            </a:r>
            <a:endParaRPr lang="en-US" sz="1300" dirty="0"/>
          </a:p>
        </p:txBody>
      </p:sp>
      <p:sp>
        <p:nvSpPr>
          <p:cNvPr id="5" name="Shape 3"/>
          <p:cNvSpPr/>
          <p:nvPr/>
        </p:nvSpPr>
        <p:spPr>
          <a:xfrm>
            <a:off x="320040" y="1554480"/>
            <a:ext cx="1417320" cy="1554480"/>
          </a:xfrm>
          <a:prstGeom prst="rect">
            <a:avLst/>
          </a:prstGeom>
          <a:solidFill>
            <a:srgbClr val="1E293B"/>
          </a:solidFill>
          <a:ln w="25400">
            <a:solidFill>
              <a:srgbClr val="0EA5E9"/>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20040" y="1554480"/>
            <a:ext cx="1417320" cy="73152"/>
          </a:xfrm>
          <a:prstGeom prst="rect">
            <a:avLst/>
          </a:prstGeom>
          <a:solidFill>
            <a:srgbClr val="0EA5E9"/>
          </a:solidFill>
          <a:ln/>
        </p:spPr>
      </p:sp>
      <p:sp>
        <p:nvSpPr>
          <p:cNvPr id="7" name="Text 5"/>
          <p:cNvSpPr/>
          <p:nvPr/>
        </p:nvSpPr>
        <p:spPr>
          <a:xfrm>
            <a:off x="320040" y="1691640"/>
            <a:ext cx="141732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8" name="Text 6"/>
          <p:cNvSpPr/>
          <p:nvPr/>
        </p:nvSpPr>
        <p:spPr>
          <a:xfrm>
            <a:off x="320040" y="2240280"/>
            <a:ext cx="141732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Data</a:t>
            </a:r>
            <a:endParaRPr lang="en-US" sz="1200" dirty="0"/>
          </a:p>
          <a:p>
            <a:pPr algn="ctr" indent="0" marL="0">
              <a:buNone/>
            </a:pPr>
            <a:r>
              <a:rPr lang="en-US" sz="1200" b="1" dirty="0">
                <a:solidFill>
                  <a:srgbClr val="FFFFFF"/>
                </a:solidFill>
                <a:latin typeface="Arial Black" pitchFamily="34" charset="0"/>
                <a:ea typeface="Arial Black" pitchFamily="34" charset="-122"/>
                <a:cs typeface="Arial Black" pitchFamily="34" charset="-120"/>
              </a:rPr>
              <a:t>Agent</a:t>
            </a:r>
            <a:endParaRPr lang="en-US" sz="1200" dirty="0"/>
          </a:p>
        </p:txBody>
      </p:sp>
      <p:sp>
        <p:nvSpPr>
          <p:cNvPr id="9" name="Text 7"/>
          <p:cNvSpPr/>
          <p:nvPr/>
        </p:nvSpPr>
        <p:spPr>
          <a:xfrm>
            <a:off x="320040" y="2816352"/>
            <a:ext cx="1417320" cy="292608"/>
          </a:xfrm>
          <a:prstGeom prst="rect">
            <a:avLst/>
          </a:prstGeom>
          <a:noFill/>
          <a:ln/>
        </p:spPr>
        <p:txBody>
          <a:bodyPr wrap="square" lIns="0" tIns="0" rIns="0" bIns="0" rtlCol="0" anchor="ctr"/>
          <a:lstStyle/>
          <a:p>
            <a:pPr algn="ctr" indent="0" marL="0">
              <a:buNone/>
            </a:pPr>
            <a:r>
              <a:rPr lang="en-US" sz="900" dirty="0">
                <a:solidFill>
                  <a:srgbClr val="0EA5E9"/>
                </a:solidFill>
                <a:latin typeface="Calibri" pitchFamily="34" charset="0"/>
                <a:ea typeface="Calibri" pitchFamily="34" charset="-122"/>
                <a:cs typeface="Calibri" pitchFamily="34" charset="-120"/>
              </a:rPr>
              <a:t>Claude</a:t>
            </a:r>
            <a:endParaRPr lang="en-US" sz="900" dirty="0"/>
          </a:p>
          <a:p>
            <a:pPr algn="ctr" indent="0" marL="0">
              <a:buNone/>
            </a:pPr>
            <a:r>
              <a:rPr lang="en-US" sz="900" dirty="0">
                <a:solidFill>
                  <a:srgbClr val="0EA5E9"/>
                </a:solidFill>
                <a:latin typeface="Calibri" pitchFamily="34" charset="0"/>
                <a:ea typeface="Calibri" pitchFamily="34" charset="-122"/>
                <a:cs typeface="Calibri" pitchFamily="34" charset="-120"/>
              </a:rPr>
              <a:t>Sonnet</a:t>
            </a:r>
            <a:endParaRPr lang="en-US" sz="900" dirty="0"/>
          </a:p>
        </p:txBody>
      </p:sp>
      <p:sp>
        <p:nvSpPr>
          <p:cNvPr id="10" name="Shape 8"/>
          <p:cNvSpPr/>
          <p:nvPr/>
        </p:nvSpPr>
        <p:spPr>
          <a:xfrm>
            <a:off x="1773936" y="2313432"/>
            <a:ext cx="274320" cy="36576"/>
          </a:xfrm>
          <a:prstGeom prst="rect">
            <a:avLst/>
          </a:prstGeom>
          <a:solidFill>
            <a:srgbClr val="475569"/>
          </a:solidFill>
          <a:ln/>
        </p:spPr>
      </p:sp>
      <p:sp>
        <p:nvSpPr>
          <p:cNvPr id="11" name="Shape 9"/>
          <p:cNvSpPr/>
          <p:nvPr/>
        </p:nvSpPr>
        <p:spPr>
          <a:xfrm>
            <a:off x="1965960" y="2258568"/>
            <a:ext cx="118872" cy="146304"/>
          </a:xfrm>
          <a:prstGeom prst="ellipse">
            <a:avLst/>
          </a:prstGeom>
          <a:solidFill>
            <a:srgbClr val="475569"/>
          </a:solidFill>
          <a:ln/>
        </p:spPr>
      </p:sp>
      <p:sp>
        <p:nvSpPr>
          <p:cNvPr id="12" name="Shape 10"/>
          <p:cNvSpPr/>
          <p:nvPr/>
        </p:nvSpPr>
        <p:spPr>
          <a:xfrm>
            <a:off x="2084832" y="1554480"/>
            <a:ext cx="1417320" cy="1554480"/>
          </a:xfrm>
          <a:prstGeom prst="rect">
            <a:avLst/>
          </a:prstGeom>
          <a:solidFill>
            <a:srgbClr val="1E293B"/>
          </a:solidFill>
          <a:ln w="25400">
            <a:solidFill>
              <a:srgbClr val="8B5CF6"/>
            </a:solidFill>
            <a:prstDash val="solid"/>
          </a:ln>
          <a:effectLst>
            <a:outerShdw sx="100000" sy="100000" kx="0" ky="0" algn="bl" rotWithShape="0" blurRad="101600" dist="38100" dir="8100000">
              <a:srgbClr val="000000">
                <a:alpha val="25000"/>
              </a:srgbClr>
            </a:outerShdw>
          </a:effectLst>
        </p:spPr>
      </p:sp>
      <p:sp>
        <p:nvSpPr>
          <p:cNvPr id="13" name="Shape 11"/>
          <p:cNvSpPr/>
          <p:nvPr/>
        </p:nvSpPr>
        <p:spPr>
          <a:xfrm>
            <a:off x="2084832" y="1554480"/>
            <a:ext cx="1417320" cy="73152"/>
          </a:xfrm>
          <a:prstGeom prst="rect">
            <a:avLst/>
          </a:prstGeom>
          <a:solidFill>
            <a:srgbClr val="8B5CF6"/>
          </a:solidFill>
          <a:ln/>
        </p:spPr>
      </p:sp>
      <p:sp>
        <p:nvSpPr>
          <p:cNvPr id="14" name="Text 12"/>
          <p:cNvSpPr/>
          <p:nvPr/>
        </p:nvSpPr>
        <p:spPr>
          <a:xfrm>
            <a:off x="2084832" y="1691640"/>
            <a:ext cx="141732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5" name="Text 13"/>
          <p:cNvSpPr/>
          <p:nvPr/>
        </p:nvSpPr>
        <p:spPr>
          <a:xfrm>
            <a:off x="2084832" y="2240280"/>
            <a:ext cx="141732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Feature</a:t>
            </a:r>
            <a:endParaRPr lang="en-US" sz="1200" dirty="0"/>
          </a:p>
          <a:p>
            <a:pPr algn="ctr" indent="0" marL="0">
              <a:buNone/>
            </a:pPr>
            <a:r>
              <a:rPr lang="en-US" sz="1200" b="1" dirty="0">
                <a:solidFill>
                  <a:srgbClr val="FFFFFF"/>
                </a:solidFill>
                <a:latin typeface="Arial Black" pitchFamily="34" charset="0"/>
                <a:ea typeface="Arial Black" pitchFamily="34" charset="-122"/>
                <a:cs typeface="Arial Black" pitchFamily="34" charset="-120"/>
              </a:rPr>
              <a:t>Agent</a:t>
            </a:r>
            <a:endParaRPr lang="en-US" sz="1200" dirty="0"/>
          </a:p>
        </p:txBody>
      </p:sp>
      <p:sp>
        <p:nvSpPr>
          <p:cNvPr id="16" name="Text 14"/>
          <p:cNvSpPr/>
          <p:nvPr/>
        </p:nvSpPr>
        <p:spPr>
          <a:xfrm>
            <a:off x="2084832" y="2816352"/>
            <a:ext cx="1417320" cy="292608"/>
          </a:xfrm>
          <a:prstGeom prst="rect">
            <a:avLst/>
          </a:prstGeom>
          <a:noFill/>
          <a:ln/>
        </p:spPr>
        <p:txBody>
          <a:bodyPr wrap="square" lIns="0" tIns="0" rIns="0" bIns="0" rtlCol="0" anchor="ctr"/>
          <a:lstStyle/>
          <a:p>
            <a:pPr algn="ctr" indent="0" marL="0">
              <a:buNone/>
            </a:pPr>
            <a:r>
              <a:rPr lang="en-US" sz="900" dirty="0">
                <a:solidFill>
                  <a:srgbClr val="8B5CF6"/>
                </a:solidFill>
                <a:latin typeface="Calibri" pitchFamily="34" charset="0"/>
                <a:ea typeface="Calibri" pitchFamily="34" charset="-122"/>
                <a:cs typeface="Calibri" pitchFamily="34" charset="-120"/>
              </a:rPr>
              <a:t>Claude</a:t>
            </a:r>
            <a:endParaRPr lang="en-US" sz="900" dirty="0"/>
          </a:p>
          <a:p>
            <a:pPr algn="ctr" indent="0" marL="0">
              <a:buNone/>
            </a:pPr>
            <a:r>
              <a:rPr lang="en-US" sz="900" dirty="0">
                <a:solidFill>
                  <a:srgbClr val="8B5CF6"/>
                </a:solidFill>
                <a:latin typeface="Calibri" pitchFamily="34" charset="0"/>
                <a:ea typeface="Calibri" pitchFamily="34" charset="-122"/>
                <a:cs typeface="Calibri" pitchFamily="34" charset="-120"/>
              </a:rPr>
              <a:t>Sonnet</a:t>
            </a:r>
            <a:endParaRPr lang="en-US" sz="900" dirty="0"/>
          </a:p>
        </p:txBody>
      </p:sp>
      <p:sp>
        <p:nvSpPr>
          <p:cNvPr id="17" name="Shape 15"/>
          <p:cNvSpPr/>
          <p:nvPr/>
        </p:nvSpPr>
        <p:spPr>
          <a:xfrm>
            <a:off x="3538728" y="2313432"/>
            <a:ext cx="274320" cy="36576"/>
          </a:xfrm>
          <a:prstGeom prst="rect">
            <a:avLst/>
          </a:prstGeom>
          <a:solidFill>
            <a:srgbClr val="475569"/>
          </a:solidFill>
          <a:ln/>
        </p:spPr>
      </p:sp>
      <p:sp>
        <p:nvSpPr>
          <p:cNvPr id="18" name="Shape 16"/>
          <p:cNvSpPr/>
          <p:nvPr/>
        </p:nvSpPr>
        <p:spPr>
          <a:xfrm>
            <a:off x="3730752" y="2258568"/>
            <a:ext cx="118872" cy="146304"/>
          </a:xfrm>
          <a:prstGeom prst="ellipse">
            <a:avLst/>
          </a:prstGeom>
          <a:solidFill>
            <a:srgbClr val="475569"/>
          </a:solidFill>
          <a:ln/>
        </p:spPr>
      </p:sp>
      <p:sp>
        <p:nvSpPr>
          <p:cNvPr id="19" name="Shape 17"/>
          <p:cNvSpPr/>
          <p:nvPr/>
        </p:nvSpPr>
        <p:spPr>
          <a:xfrm>
            <a:off x="3849624" y="1554480"/>
            <a:ext cx="1417320" cy="1554480"/>
          </a:xfrm>
          <a:prstGeom prst="rect">
            <a:avLst/>
          </a:prstGeom>
          <a:solidFill>
            <a:srgbClr val="1E293B"/>
          </a:solidFill>
          <a:ln w="25400">
            <a:solidFill>
              <a:srgbClr val="E85D04"/>
            </a:solidFill>
            <a:prstDash val="solid"/>
          </a:ln>
          <a:effectLst>
            <a:outerShdw sx="100000" sy="100000" kx="0" ky="0" algn="bl" rotWithShape="0" blurRad="101600" dist="38100" dir="8100000">
              <a:srgbClr val="000000">
                <a:alpha val="25000"/>
              </a:srgbClr>
            </a:outerShdw>
          </a:effectLst>
        </p:spPr>
      </p:sp>
      <p:sp>
        <p:nvSpPr>
          <p:cNvPr id="20" name="Shape 18"/>
          <p:cNvSpPr/>
          <p:nvPr/>
        </p:nvSpPr>
        <p:spPr>
          <a:xfrm>
            <a:off x="3849624" y="1554480"/>
            <a:ext cx="1417320" cy="73152"/>
          </a:xfrm>
          <a:prstGeom prst="rect">
            <a:avLst/>
          </a:prstGeom>
          <a:solidFill>
            <a:srgbClr val="E85D04"/>
          </a:solidFill>
          <a:ln/>
        </p:spPr>
      </p:sp>
      <p:sp>
        <p:nvSpPr>
          <p:cNvPr id="21" name="Text 19"/>
          <p:cNvSpPr/>
          <p:nvPr/>
        </p:nvSpPr>
        <p:spPr>
          <a:xfrm>
            <a:off x="3849624" y="1691640"/>
            <a:ext cx="141732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2" name="Text 20"/>
          <p:cNvSpPr/>
          <p:nvPr/>
        </p:nvSpPr>
        <p:spPr>
          <a:xfrm>
            <a:off x="3849624" y="2240280"/>
            <a:ext cx="141732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Meta-</a:t>
            </a:r>
            <a:endParaRPr lang="en-US" sz="1200" dirty="0"/>
          </a:p>
          <a:p>
            <a:pPr algn="ctr" indent="0" marL="0">
              <a:buNone/>
            </a:pPr>
            <a:r>
              <a:rPr lang="en-US" sz="1200" b="1" dirty="0">
                <a:solidFill>
                  <a:srgbClr val="FFFFFF"/>
                </a:solidFill>
                <a:latin typeface="Arial Black" pitchFamily="34" charset="0"/>
                <a:ea typeface="Arial Black" pitchFamily="34" charset="-122"/>
                <a:cs typeface="Arial Black" pitchFamily="34" charset="-120"/>
              </a:rPr>
              <a:t>Scientist</a:t>
            </a:r>
            <a:endParaRPr lang="en-US" sz="1200" dirty="0"/>
          </a:p>
        </p:txBody>
      </p:sp>
      <p:sp>
        <p:nvSpPr>
          <p:cNvPr id="23" name="Text 21"/>
          <p:cNvSpPr/>
          <p:nvPr/>
        </p:nvSpPr>
        <p:spPr>
          <a:xfrm>
            <a:off x="3849624" y="2816352"/>
            <a:ext cx="1417320" cy="292608"/>
          </a:xfrm>
          <a:prstGeom prst="rect">
            <a:avLst/>
          </a:prstGeom>
          <a:noFill/>
          <a:ln/>
        </p:spPr>
        <p:txBody>
          <a:bodyPr wrap="square" lIns="0" tIns="0" rIns="0" bIns="0" rtlCol="0" anchor="ctr"/>
          <a:lstStyle/>
          <a:p>
            <a:pPr algn="ctr" indent="0" marL="0">
              <a:buNone/>
            </a:pPr>
            <a:r>
              <a:rPr lang="en-US" sz="900" dirty="0">
                <a:solidFill>
                  <a:srgbClr val="E85D04"/>
                </a:solidFill>
                <a:latin typeface="Calibri" pitchFamily="34" charset="0"/>
                <a:ea typeface="Calibri" pitchFamily="34" charset="-122"/>
                <a:cs typeface="Calibri" pitchFamily="34" charset="-120"/>
              </a:rPr>
              <a:t>Claude</a:t>
            </a:r>
            <a:endParaRPr lang="en-US" sz="900" dirty="0"/>
          </a:p>
          <a:p>
            <a:pPr algn="ctr" indent="0" marL="0">
              <a:buNone/>
            </a:pPr>
            <a:r>
              <a:rPr lang="en-US" sz="900" dirty="0">
                <a:solidFill>
                  <a:srgbClr val="E85D04"/>
                </a:solidFill>
                <a:latin typeface="Calibri" pitchFamily="34" charset="0"/>
                <a:ea typeface="Calibri" pitchFamily="34" charset="-122"/>
                <a:cs typeface="Calibri" pitchFamily="34" charset="-120"/>
              </a:rPr>
              <a:t>Opus</a:t>
            </a:r>
            <a:endParaRPr lang="en-US" sz="900" dirty="0"/>
          </a:p>
        </p:txBody>
      </p:sp>
      <p:sp>
        <p:nvSpPr>
          <p:cNvPr id="24" name="Shape 22"/>
          <p:cNvSpPr/>
          <p:nvPr/>
        </p:nvSpPr>
        <p:spPr>
          <a:xfrm>
            <a:off x="5303520" y="2313432"/>
            <a:ext cx="274320" cy="36576"/>
          </a:xfrm>
          <a:prstGeom prst="rect">
            <a:avLst/>
          </a:prstGeom>
          <a:solidFill>
            <a:srgbClr val="475569"/>
          </a:solidFill>
          <a:ln/>
        </p:spPr>
      </p:sp>
      <p:sp>
        <p:nvSpPr>
          <p:cNvPr id="25" name="Shape 23"/>
          <p:cNvSpPr/>
          <p:nvPr/>
        </p:nvSpPr>
        <p:spPr>
          <a:xfrm>
            <a:off x="5495544" y="2258568"/>
            <a:ext cx="118872" cy="146304"/>
          </a:xfrm>
          <a:prstGeom prst="ellipse">
            <a:avLst/>
          </a:prstGeom>
          <a:solidFill>
            <a:srgbClr val="475569"/>
          </a:solidFill>
          <a:ln/>
        </p:spPr>
      </p:sp>
      <p:sp>
        <p:nvSpPr>
          <p:cNvPr id="26" name="Shape 24"/>
          <p:cNvSpPr/>
          <p:nvPr/>
        </p:nvSpPr>
        <p:spPr>
          <a:xfrm>
            <a:off x="5614416" y="1554480"/>
            <a:ext cx="1417320" cy="1554480"/>
          </a:xfrm>
          <a:prstGeom prst="rect">
            <a:avLst/>
          </a:prstGeom>
          <a:solidFill>
            <a:srgbClr val="1E293B"/>
          </a:solidFill>
          <a:ln w="25400">
            <a:solidFill>
              <a:srgbClr val="22C55E"/>
            </a:solidFill>
            <a:prstDash val="solid"/>
          </a:ln>
          <a:effectLst>
            <a:outerShdw sx="100000" sy="100000" kx="0" ky="0" algn="bl" rotWithShape="0" blurRad="101600" dist="38100" dir="8100000">
              <a:srgbClr val="000000">
                <a:alpha val="25000"/>
              </a:srgbClr>
            </a:outerShdw>
          </a:effectLst>
        </p:spPr>
      </p:sp>
      <p:sp>
        <p:nvSpPr>
          <p:cNvPr id="27" name="Shape 25"/>
          <p:cNvSpPr/>
          <p:nvPr/>
        </p:nvSpPr>
        <p:spPr>
          <a:xfrm>
            <a:off x="5614416" y="1554480"/>
            <a:ext cx="1417320" cy="73152"/>
          </a:xfrm>
          <a:prstGeom prst="rect">
            <a:avLst/>
          </a:prstGeom>
          <a:solidFill>
            <a:srgbClr val="22C55E"/>
          </a:solidFill>
          <a:ln/>
        </p:spPr>
      </p:sp>
      <p:sp>
        <p:nvSpPr>
          <p:cNvPr id="28" name="Text 26"/>
          <p:cNvSpPr/>
          <p:nvPr/>
        </p:nvSpPr>
        <p:spPr>
          <a:xfrm>
            <a:off x="5614416" y="1691640"/>
            <a:ext cx="141732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9" name="Text 27"/>
          <p:cNvSpPr/>
          <p:nvPr/>
        </p:nvSpPr>
        <p:spPr>
          <a:xfrm>
            <a:off x="5614416" y="2240280"/>
            <a:ext cx="141732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Eval</a:t>
            </a:r>
            <a:endParaRPr lang="en-US" sz="1200" dirty="0"/>
          </a:p>
          <a:p>
            <a:pPr algn="ctr" indent="0" marL="0">
              <a:buNone/>
            </a:pPr>
            <a:r>
              <a:rPr lang="en-US" sz="1200" b="1" dirty="0">
                <a:solidFill>
                  <a:srgbClr val="FFFFFF"/>
                </a:solidFill>
                <a:latin typeface="Arial Black" pitchFamily="34" charset="0"/>
                <a:ea typeface="Arial Black" pitchFamily="34" charset="-122"/>
                <a:cs typeface="Arial Black" pitchFamily="34" charset="-120"/>
              </a:rPr>
              <a:t>Agent</a:t>
            </a:r>
            <a:endParaRPr lang="en-US" sz="1200" dirty="0"/>
          </a:p>
        </p:txBody>
      </p:sp>
      <p:sp>
        <p:nvSpPr>
          <p:cNvPr id="30" name="Text 28"/>
          <p:cNvSpPr/>
          <p:nvPr/>
        </p:nvSpPr>
        <p:spPr>
          <a:xfrm>
            <a:off x="5614416" y="2816352"/>
            <a:ext cx="1417320" cy="292608"/>
          </a:xfrm>
          <a:prstGeom prst="rect">
            <a:avLst/>
          </a:prstGeom>
          <a:noFill/>
          <a:ln/>
        </p:spPr>
        <p:txBody>
          <a:bodyPr wrap="square" lIns="0" tIns="0" rIns="0" bIns="0" rtlCol="0" anchor="ctr"/>
          <a:lstStyle/>
          <a:p>
            <a:pPr algn="ctr" indent="0" marL="0">
              <a:buNone/>
            </a:pPr>
            <a:r>
              <a:rPr lang="en-US" sz="900" dirty="0">
                <a:solidFill>
                  <a:srgbClr val="22C55E"/>
                </a:solidFill>
                <a:latin typeface="Calibri" pitchFamily="34" charset="0"/>
                <a:ea typeface="Calibri" pitchFamily="34" charset="-122"/>
                <a:cs typeface="Calibri" pitchFamily="34" charset="-120"/>
              </a:rPr>
              <a:t>Claude</a:t>
            </a:r>
            <a:endParaRPr lang="en-US" sz="900" dirty="0"/>
          </a:p>
          <a:p>
            <a:pPr algn="ctr" indent="0" marL="0">
              <a:buNone/>
            </a:pPr>
            <a:r>
              <a:rPr lang="en-US" sz="900" dirty="0">
                <a:solidFill>
                  <a:srgbClr val="22C55E"/>
                </a:solidFill>
                <a:latin typeface="Calibri" pitchFamily="34" charset="0"/>
                <a:ea typeface="Calibri" pitchFamily="34" charset="-122"/>
                <a:cs typeface="Calibri" pitchFamily="34" charset="-120"/>
              </a:rPr>
              <a:t>Sonnet</a:t>
            </a:r>
            <a:endParaRPr lang="en-US" sz="900" dirty="0"/>
          </a:p>
        </p:txBody>
      </p:sp>
      <p:sp>
        <p:nvSpPr>
          <p:cNvPr id="31" name="Shape 29"/>
          <p:cNvSpPr/>
          <p:nvPr/>
        </p:nvSpPr>
        <p:spPr>
          <a:xfrm>
            <a:off x="7068312" y="2313432"/>
            <a:ext cx="274320" cy="36576"/>
          </a:xfrm>
          <a:prstGeom prst="rect">
            <a:avLst/>
          </a:prstGeom>
          <a:solidFill>
            <a:srgbClr val="475569"/>
          </a:solidFill>
          <a:ln/>
        </p:spPr>
      </p:sp>
      <p:sp>
        <p:nvSpPr>
          <p:cNvPr id="32" name="Shape 30"/>
          <p:cNvSpPr/>
          <p:nvPr/>
        </p:nvSpPr>
        <p:spPr>
          <a:xfrm>
            <a:off x="7260336" y="2258568"/>
            <a:ext cx="118872" cy="146304"/>
          </a:xfrm>
          <a:prstGeom prst="ellipse">
            <a:avLst/>
          </a:prstGeom>
          <a:solidFill>
            <a:srgbClr val="475569"/>
          </a:solidFill>
          <a:ln/>
        </p:spPr>
      </p:sp>
      <p:sp>
        <p:nvSpPr>
          <p:cNvPr id="33" name="Shape 31"/>
          <p:cNvSpPr/>
          <p:nvPr/>
        </p:nvSpPr>
        <p:spPr>
          <a:xfrm>
            <a:off x="7379208" y="1554480"/>
            <a:ext cx="1417320" cy="1554480"/>
          </a:xfrm>
          <a:prstGeom prst="rect">
            <a:avLst/>
          </a:prstGeom>
          <a:solidFill>
            <a:srgbClr val="1E293B"/>
          </a:solidFill>
          <a:ln w="25400">
            <a:solidFill>
              <a:srgbClr val="F59E0B"/>
            </a:solidFill>
            <a:prstDash val="solid"/>
          </a:ln>
          <a:effectLst>
            <a:outerShdw sx="100000" sy="100000" kx="0" ky="0" algn="bl" rotWithShape="0" blurRad="101600" dist="38100" dir="8100000">
              <a:srgbClr val="000000">
                <a:alpha val="25000"/>
              </a:srgbClr>
            </a:outerShdw>
          </a:effectLst>
        </p:spPr>
      </p:sp>
      <p:sp>
        <p:nvSpPr>
          <p:cNvPr id="34" name="Shape 32"/>
          <p:cNvSpPr/>
          <p:nvPr/>
        </p:nvSpPr>
        <p:spPr>
          <a:xfrm>
            <a:off x="7379208" y="1554480"/>
            <a:ext cx="1417320" cy="73152"/>
          </a:xfrm>
          <a:prstGeom prst="rect">
            <a:avLst/>
          </a:prstGeom>
          <a:solidFill>
            <a:srgbClr val="F59E0B"/>
          </a:solidFill>
          <a:ln/>
        </p:spPr>
      </p:sp>
      <p:sp>
        <p:nvSpPr>
          <p:cNvPr id="35" name="Text 33"/>
          <p:cNvSpPr/>
          <p:nvPr/>
        </p:nvSpPr>
        <p:spPr>
          <a:xfrm>
            <a:off x="7379208" y="1691640"/>
            <a:ext cx="141732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36" name="Text 34"/>
          <p:cNvSpPr/>
          <p:nvPr/>
        </p:nvSpPr>
        <p:spPr>
          <a:xfrm>
            <a:off x="7379208" y="2240280"/>
            <a:ext cx="141732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Report</a:t>
            </a:r>
            <a:endParaRPr lang="en-US" sz="1200" dirty="0"/>
          </a:p>
          <a:p>
            <a:pPr algn="ctr" indent="0" marL="0">
              <a:buNone/>
            </a:pPr>
            <a:r>
              <a:rPr lang="en-US" sz="1200" b="1" dirty="0">
                <a:solidFill>
                  <a:srgbClr val="FFFFFF"/>
                </a:solidFill>
                <a:latin typeface="Arial Black" pitchFamily="34" charset="0"/>
                <a:ea typeface="Arial Black" pitchFamily="34" charset="-122"/>
                <a:cs typeface="Arial Black" pitchFamily="34" charset="-120"/>
              </a:rPr>
              <a:t>Agent</a:t>
            </a:r>
            <a:endParaRPr lang="en-US" sz="1200" dirty="0"/>
          </a:p>
        </p:txBody>
      </p:sp>
      <p:sp>
        <p:nvSpPr>
          <p:cNvPr id="37" name="Text 35"/>
          <p:cNvSpPr/>
          <p:nvPr/>
        </p:nvSpPr>
        <p:spPr>
          <a:xfrm>
            <a:off x="7379208" y="2816352"/>
            <a:ext cx="1417320" cy="292608"/>
          </a:xfrm>
          <a:prstGeom prst="rect">
            <a:avLst/>
          </a:prstGeom>
          <a:noFill/>
          <a:ln/>
        </p:spPr>
        <p:txBody>
          <a:bodyPr wrap="square" lIns="0" tIns="0" rIns="0" bIns="0" rtlCol="0" anchor="ctr"/>
          <a:lstStyle/>
          <a:p>
            <a:pPr algn="ctr" indent="0" marL="0">
              <a:buNone/>
            </a:pPr>
            <a:r>
              <a:rPr lang="en-US" sz="900" dirty="0">
                <a:solidFill>
                  <a:srgbClr val="F59E0B"/>
                </a:solidFill>
                <a:latin typeface="Calibri" pitchFamily="34" charset="0"/>
                <a:ea typeface="Calibri" pitchFamily="34" charset="-122"/>
                <a:cs typeface="Calibri" pitchFamily="34" charset="-120"/>
              </a:rPr>
              <a:t>Claude</a:t>
            </a:r>
            <a:endParaRPr lang="en-US" sz="900" dirty="0"/>
          </a:p>
          <a:p>
            <a:pPr algn="ctr" indent="0" marL="0">
              <a:buNone/>
            </a:pPr>
            <a:r>
              <a:rPr lang="en-US" sz="900" dirty="0">
                <a:solidFill>
                  <a:srgbClr val="F59E0B"/>
                </a:solidFill>
                <a:latin typeface="Calibri" pitchFamily="34" charset="0"/>
                <a:ea typeface="Calibri" pitchFamily="34" charset="-122"/>
                <a:cs typeface="Calibri" pitchFamily="34" charset="-120"/>
              </a:rPr>
              <a:t>Sonnet</a:t>
            </a:r>
            <a:endParaRPr lang="en-US" sz="900" dirty="0"/>
          </a:p>
        </p:txBody>
      </p:sp>
      <p:sp>
        <p:nvSpPr>
          <p:cNvPr id="38" name="Shape 36"/>
          <p:cNvSpPr/>
          <p:nvPr/>
        </p:nvSpPr>
        <p:spPr>
          <a:xfrm>
            <a:off x="411480" y="3383280"/>
            <a:ext cx="128016" cy="128016"/>
          </a:xfrm>
          <a:prstGeom prst="ellipse">
            <a:avLst/>
          </a:prstGeom>
          <a:solidFill>
            <a:srgbClr val="E85D04"/>
          </a:solidFill>
          <a:ln/>
        </p:spPr>
      </p:sp>
      <p:sp>
        <p:nvSpPr>
          <p:cNvPr id="39" name="Text 37"/>
          <p:cNvSpPr/>
          <p:nvPr/>
        </p:nvSpPr>
        <p:spPr>
          <a:xfrm>
            <a:off x="621792" y="3337560"/>
            <a:ext cx="8229600" cy="347472"/>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Each agent has a focused role — no single monolithic model</a:t>
            </a:r>
            <a:endParaRPr lang="en-US" sz="1200" dirty="0"/>
          </a:p>
        </p:txBody>
      </p:sp>
      <p:sp>
        <p:nvSpPr>
          <p:cNvPr id="40" name="Shape 38"/>
          <p:cNvSpPr/>
          <p:nvPr/>
        </p:nvSpPr>
        <p:spPr>
          <a:xfrm>
            <a:off x="411480" y="3767328"/>
            <a:ext cx="128016" cy="128016"/>
          </a:xfrm>
          <a:prstGeom prst="ellipse">
            <a:avLst/>
          </a:prstGeom>
          <a:solidFill>
            <a:srgbClr val="E85D04"/>
          </a:solidFill>
          <a:ln/>
        </p:spPr>
      </p:sp>
      <p:sp>
        <p:nvSpPr>
          <p:cNvPr id="41" name="Text 39"/>
          <p:cNvSpPr/>
          <p:nvPr/>
        </p:nvSpPr>
        <p:spPr>
          <a:xfrm>
            <a:off x="621792" y="3721608"/>
            <a:ext cx="8229600" cy="347472"/>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Claude Opus runs the Meta-Scientist (deepest reasoning); Sonnet runs the rest (speed + cost)</a:t>
            </a:r>
            <a:endParaRPr lang="en-US" sz="1200" dirty="0"/>
          </a:p>
        </p:txBody>
      </p:sp>
      <p:sp>
        <p:nvSpPr>
          <p:cNvPr id="42" name="Shape 40"/>
          <p:cNvSpPr/>
          <p:nvPr/>
        </p:nvSpPr>
        <p:spPr>
          <a:xfrm>
            <a:off x="411480" y="4151376"/>
            <a:ext cx="128016" cy="128016"/>
          </a:xfrm>
          <a:prstGeom prst="ellipse">
            <a:avLst/>
          </a:prstGeom>
          <a:solidFill>
            <a:srgbClr val="E85D04"/>
          </a:solidFill>
          <a:ln/>
        </p:spPr>
      </p:sp>
      <p:sp>
        <p:nvSpPr>
          <p:cNvPr id="43" name="Text 41"/>
          <p:cNvSpPr/>
          <p:nvPr/>
        </p:nvSpPr>
        <p:spPr>
          <a:xfrm>
            <a:off x="621792" y="4105656"/>
            <a:ext cx="8229600" cy="347472"/>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Agents communicate via shared storage (SQLite + Parquet) — no direct inter-agent calls</a:t>
            </a:r>
            <a:endParaRPr lang="en-US" sz="1200" dirty="0"/>
          </a:p>
        </p:txBody>
      </p:sp>
      <p:sp>
        <p:nvSpPr>
          <p:cNvPr id="44" name="Shape 42"/>
          <p:cNvSpPr/>
          <p:nvPr/>
        </p:nvSpPr>
        <p:spPr>
          <a:xfrm>
            <a:off x="411480" y="4535424"/>
            <a:ext cx="128016" cy="128016"/>
          </a:xfrm>
          <a:prstGeom prst="ellipse">
            <a:avLst/>
          </a:prstGeom>
          <a:solidFill>
            <a:srgbClr val="E85D04"/>
          </a:solidFill>
          <a:ln/>
        </p:spPr>
      </p:sp>
      <p:sp>
        <p:nvSpPr>
          <p:cNvPr id="45" name="Text 43"/>
          <p:cNvSpPr/>
          <p:nvPr/>
        </p:nvSpPr>
        <p:spPr>
          <a:xfrm>
            <a:off x="621792" y="4489704"/>
            <a:ext cx="8229600" cy="347472"/>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Each full pipeline run costs $2–5 and takes 5–10 minutes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How It Works</a:t>
            </a:r>
            <a:endParaRPr lang="en-US" sz="2600" dirty="0"/>
          </a:p>
        </p:txBody>
      </p:sp>
      <p:sp>
        <p:nvSpPr>
          <p:cNvPr id="3" name="Shape 1"/>
          <p:cNvSpPr/>
          <p:nvPr/>
        </p:nvSpPr>
        <p:spPr>
          <a:xfrm>
            <a:off x="457200" y="868680"/>
            <a:ext cx="1097280" cy="50292"/>
          </a:xfrm>
          <a:prstGeom prst="rect">
            <a:avLst/>
          </a:prstGeom>
          <a:solidFill>
            <a:srgbClr val="E85D04"/>
          </a:solidFill>
          <a:ln/>
        </p:spPr>
      </p:sp>
      <p:sp>
        <p:nvSpPr>
          <p:cNvPr id="4" name="Text 2"/>
          <p:cNvSpPr/>
          <p:nvPr/>
        </p:nvSpPr>
        <p:spPr>
          <a:xfrm>
            <a:off x="457200" y="914400"/>
            <a:ext cx="82296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Each agent runs an autonomous tool-use loop</a:t>
            </a:r>
            <a:endParaRPr lang="en-US" sz="1300" dirty="0"/>
          </a:p>
        </p:txBody>
      </p:sp>
      <p:sp>
        <p:nvSpPr>
          <p:cNvPr id="5" name="Shape 3"/>
          <p:cNvSpPr/>
          <p:nvPr/>
        </p:nvSpPr>
        <p:spPr>
          <a:xfrm>
            <a:off x="320040" y="1325880"/>
            <a:ext cx="4206240" cy="111556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6" name="Shape 4"/>
          <p:cNvSpPr/>
          <p:nvPr/>
        </p:nvSpPr>
        <p:spPr>
          <a:xfrm>
            <a:off x="320040" y="1325880"/>
            <a:ext cx="50292" cy="1115568"/>
          </a:xfrm>
          <a:prstGeom prst="rect">
            <a:avLst/>
          </a:prstGeom>
          <a:solidFill>
            <a:srgbClr val="0EA5E9"/>
          </a:solidFill>
          <a:ln/>
        </p:spPr>
      </p:sp>
      <p:sp>
        <p:nvSpPr>
          <p:cNvPr id="7" name="Shape 5"/>
          <p:cNvSpPr/>
          <p:nvPr/>
        </p:nvSpPr>
        <p:spPr>
          <a:xfrm>
            <a:off x="374904" y="1645920"/>
            <a:ext cx="475488" cy="475488"/>
          </a:xfrm>
          <a:prstGeom prst="ellipse">
            <a:avLst/>
          </a:prstGeom>
          <a:solidFill>
            <a:srgbClr val="0EA5E9"/>
          </a:solidFill>
          <a:ln/>
        </p:spPr>
      </p:sp>
      <p:sp>
        <p:nvSpPr>
          <p:cNvPr id="8" name="Text 6"/>
          <p:cNvSpPr/>
          <p:nvPr/>
        </p:nvSpPr>
        <p:spPr>
          <a:xfrm>
            <a:off x="374904" y="164592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Black" pitchFamily="34" charset="0"/>
                <a:ea typeface="Arial Black" pitchFamily="34" charset="-122"/>
                <a:cs typeface="Arial Black" pitchFamily="34" charset="-120"/>
              </a:rPr>
              <a:t>1</a:t>
            </a:r>
            <a:endParaRPr lang="en-US" sz="1500" dirty="0"/>
          </a:p>
        </p:txBody>
      </p:sp>
      <p:sp>
        <p:nvSpPr>
          <p:cNvPr id="9" name="Text 7"/>
          <p:cNvSpPr/>
          <p:nvPr/>
        </p:nvSpPr>
        <p:spPr>
          <a:xfrm>
            <a:off x="914400" y="1417320"/>
            <a:ext cx="352044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Data Agent</a:t>
            </a:r>
            <a:endParaRPr lang="en-US" sz="1300" dirty="0"/>
          </a:p>
        </p:txBody>
      </p:sp>
      <p:sp>
        <p:nvSpPr>
          <p:cNvPr id="10" name="Text 8"/>
          <p:cNvSpPr/>
          <p:nvPr/>
        </p:nvSpPr>
        <p:spPr>
          <a:xfrm>
            <a:off x="914400" y="1746504"/>
            <a:ext cx="3520440" cy="594360"/>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5 seasons NBA game history  ·  ~130k player game log rows  ·  Live Polymarket odds</a:t>
            </a:r>
            <a:endParaRPr lang="en-US" sz="1050" dirty="0"/>
          </a:p>
        </p:txBody>
      </p:sp>
      <p:sp>
        <p:nvSpPr>
          <p:cNvPr id="11" name="Shape 9"/>
          <p:cNvSpPr/>
          <p:nvPr/>
        </p:nvSpPr>
        <p:spPr>
          <a:xfrm>
            <a:off x="320040" y="2560320"/>
            <a:ext cx="4206240" cy="111556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2" name="Shape 10"/>
          <p:cNvSpPr/>
          <p:nvPr/>
        </p:nvSpPr>
        <p:spPr>
          <a:xfrm>
            <a:off x="320040" y="2560320"/>
            <a:ext cx="50292" cy="1115568"/>
          </a:xfrm>
          <a:prstGeom prst="rect">
            <a:avLst/>
          </a:prstGeom>
          <a:solidFill>
            <a:srgbClr val="8B5CF6"/>
          </a:solidFill>
          <a:ln/>
        </p:spPr>
      </p:sp>
      <p:sp>
        <p:nvSpPr>
          <p:cNvPr id="13" name="Shape 11"/>
          <p:cNvSpPr/>
          <p:nvPr/>
        </p:nvSpPr>
        <p:spPr>
          <a:xfrm>
            <a:off x="374904" y="2880360"/>
            <a:ext cx="475488" cy="475488"/>
          </a:xfrm>
          <a:prstGeom prst="ellipse">
            <a:avLst/>
          </a:prstGeom>
          <a:solidFill>
            <a:srgbClr val="8B5CF6"/>
          </a:solidFill>
          <a:ln/>
        </p:spPr>
      </p:sp>
      <p:sp>
        <p:nvSpPr>
          <p:cNvPr id="14" name="Text 12"/>
          <p:cNvSpPr/>
          <p:nvPr/>
        </p:nvSpPr>
        <p:spPr>
          <a:xfrm>
            <a:off x="374904" y="28803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Black" pitchFamily="34" charset="0"/>
                <a:ea typeface="Arial Black" pitchFamily="34" charset="-122"/>
                <a:cs typeface="Arial Black" pitchFamily="34" charset="-120"/>
              </a:rPr>
              <a:t>2</a:t>
            </a:r>
            <a:endParaRPr lang="en-US" sz="1500" dirty="0"/>
          </a:p>
        </p:txBody>
      </p:sp>
      <p:sp>
        <p:nvSpPr>
          <p:cNvPr id="15" name="Text 13"/>
          <p:cNvSpPr/>
          <p:nvPr/>
        </p:nvSpPr>
        <p:spPr>
          <a:xfrm>
            <a:off x="914400" y="2651760"/>
            <a:ext cx="352044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Feature Agent</a:t>
            </a:r>
            <a:endParaRPr lang="en-US" sz="1300" dirty="0"/>
          </a:p>
        </p:txBody>
      </p:sp>
      <p:sp>
        <p:nvSpPr>
          <p:cNvPr id="16" name="Text 14"/>
          <p:cNvSpPr/>
          <p:nvPr/>
        </p:nvSpPr>
        <p:spPr>
          <a:xfrm>
            <a:off x="914400" y="2980944"/>
            <a:ext cx="3520440" cy="594360"/>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69+ engineered features  ·  Elo, form, rest, H2H, SOS  ·  Player roster strength</a:t>
            </a:r>
            <a:endParaRPr lang="en-US" sz="1050" dirty="0"/>
          </a:p>
        </p:txBody>
      </p:sp>
      <p:sp>
        <p:nvSpPr>
          <p:cNvPr id="17" name="Shape 15"/>
          <p:cNvSpPr/>
          <p:nvPr/>
        </p:nvSpPr>
        <p:spPr>
          <a:xfrm>
            <a:off x="320040" y="3794760"/>
            <a:ext cx="4206240" cy="111556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8" name="Shape 16"/>
          <p:cNvSpPr/>
          <p:nvPr/>
        </p:nvSpPr>
        <p:spPr>
          <a:xfrm>
            <a:off x="320040" y="3794760"/>
            <a:ext cx="50292" cy="1115568"/>
          </a:xfrm>
          <a:prstGeom prst="rect">
            <a:avLst/>
          </a:prstGeom>
          <a:solidFill>
            <a:srgbClr val="E85D04"/>
          </a:solidFill>
          <a:ln/>
        </p:spPr>
      </p:sp>
      <p:sp>
        <p:nvSpPr>
          <p:cNvPr id="19" name="Shape 17"/>
          <p:cNvSpPr/>
          <p:nvPr/>
        </p:nvSpPr>
        <p:spPr>
          <a:xfrm>
            <a:off x="374904" y="4114800"/>
            <a:ext cx="475488" cy="475488"/>
          </a:xfrm>
          <a:prstGeom prst="ellipse">
            <a:avLst/>
          </a:prstGeom>
          <a:solidFill>
            <a:srgbClr val="E85D04"/>
          </a:solidFill>
          <a:ln/>
        </p:spPr>
      </p:sp>
      <p:sp>
        <p:nvSpPr>
          <p:cNvPr id="20" name="Text 18"/>
          <p:cNvSpPr/>
          <p:nvPr/>
        </p:nvSpPr>
        <p:spPr>
          <a:xfrm>
            <a:off x="374904" y="411480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Black" pitchFamily="34" charset="0"/>
                <a:ea typeface="Arial Black" pitchFamily="34" charset="-122"/>
                <a:cs typeface="Arial Black" pitchFamily="34" charset="-120"/>
              </a:rPr>
              <a:t>3</a:t>
            </a:r>
            <a:endParaRPr lang="en-US" sz="1500" dirty="0"/>
          </a:p>
        </p:txBody>
      </p:sp>
      <p:sp>
        <p:nvSpPr>
          <p:cNvPr id="21" name="Text 19"/>
          <p:cNvSpPr/>
          <p:nvPr/>
        </p:nvSpPr>
        <p:spPr>
          <a:xfrm>
            <a:off x="914400" y="3886200"/>
            <a:ext cx="352044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Meta-Scientist</a:t>
            </a:r>
            <a:endParaRPr lang="en-US" sz="1300" dirty="0"/>
          </a:p>
        </p:txBody>
      </p:sp>
      <p:sp>
        <p:nvSpPr>
          <p:cNvPr id="22" name="Text 20"/>
          <p:cNvSpPr/>
          <p:nvPr/>
        </p:nvSpPr>
        <p:spPr>
          <a:xfrm>
            <a:off x="914400" y="4215384"/>
            <a:ext cx="3520440" cy="594360"/>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Reads prior run history  ·  Designs new experiments  ·  Runs cross-validated ML</a:t>
            </a:r>
            <a:endParaRPr lang="en-US" sz="1050" dirty="0"/>
          </a:p>
        </p:txBody>
      </p:sp>
      <p:sp>
        <p:nvSpPr>
          <p:cNvPr id="23" name="Shape 21"/>
          <p:cNvSpPr/>
          <p:nvPr/>
        </p:nvSpPr>
        <p:spPr>
          <a:xfrm>
            <a:off x="4800600" y="1325880"/>
            <a:ext cx="4206240" cy="111556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24" name="Shape 22"/>
          <p:cNvSpPr/>
          <p:nvPr/>
        </p:nvSpPr>
        <p:spPr>
          <a:xfrm>
            <a:off x="4800600" y="1325880"/>
            <a:ext cx="50292" cy="1115568"/>
          </a:xfrm>
          <a:prstGeom prst="rect">
            <a:avLst/>
          </a:prstGeom>
          <a:solidFill>
            <a:srgbClr val="22C55E"/>
          </a:solidFill>
          <a:ln/>
        </p:spPr>
      </p:sp>
      <p:sp>
        <p:nvSpPr>
          <p:cNvPr id="25" name="Shape 23"/>
          <p:cNvSpPr/>
          <p:nvPr/>
        </p:nvSpPr>
        <p:spPr>
          <a:xfrm>
            <a:off x="4855464" y="1645920"/>
            <a:ext cx="475488" cy="475488"/>
          </a:xfrm>
          <a:prstGeom prst="ellipse">
            <a:avLst/>
          </a:prstGeom>
          <a:solidFill>
            <a:srgbClr val="22C55E"/>
          </a:solidFill>
          <a:ln/>
        </p:spPr>
      </p:sp>
      <p:sp>
        <p:nvSpPr>
          <p:cNvPr id="26" name="Text 24"/>
          <p:cNvSpPr/>
          <p:nvPr/>
        </p:nvSpPr>
        <p:spPr>
          <a:xfrm>
            <a:off x="4855464" y="164592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Black" pitchFamily="34" charset="0"/>
                <a:ea typeface="Arial Black" pitchFamily="34" charset="-122"/>
                <a:cs typeface="Arial Black" pitchFamily="34" charset="-120"/>
              </a:rPr>
              <a:t>4</a:t>
            </a:r>
            <a:endParaRPr lang="en-US" sz="1500" dirty="0"/>
          </a:p>
        </p:txBody>
      </p:sp>
      <p:sp>
        <p:nvSpPr>
          <p:cNvPr id="27" name="Text 25"/>
          <p:cNvSpPr/>
          <p:nvPr/>
        </p:nvSpPr>
        <p:spPr>
          <a:xfrm>
            <a:off x="5394960" y="1417320"/>
            <a:ext cx="352044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Eval Agent</a:t>
            </a:r>
            <a:endParaRPr lang="en-US" sz="1300" dirty="0"/>
          </a:p>
        </p:txBody>
      </p:sp>
      <p:sp>
        <p:nvSpPr>
          <p:cNvPr id="28" name="Text 26"/>
          <p:cNvSpPr/>
          <p:nvPr/>
        </p:nvSpPr>
        <p:spPr>
          <a:xfrm>
            <a:off x="5394960" y="1746504"/>
            <a:ext cx="3520440" cy="594360"/>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Compares all experiments  ·  Checks calibration  ·  Promote / reject decision</a:t>
            </a:r>
            <a:endParaRPr lang="en-US" sz="1050" dirty="0"/>
          </a:p>
        </p:txBody>
      </p:sp>
      <p:sp>
        <p:nvSpPr>
          <p:cNvPr id="29" name="Shape 27"/>
          <p:cNvSpPr/>
          <p:nvPr/>
        </p:nvSpPr>
        <p:spPr>
          <a:xfrm>
            <a:off x="4800600" y="2560320"/>
            <a:ext cx="4206240" cy="111556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30" name="Shape 28"/>
          <p:cNvSpPr/>
          <p:nvPr/>
        </p:nvSpPr>
        <p:spPr>
          <a:xfrm>
            <a:off x="4800600" y="2560320"/>
            <a:ext cx="50292" cy="1115568"/>
          </a:xfrm>
          <a:prstGeom prst="rect">
            <a:avLst/>
          </a:prstGeom>
          <a:solidFill>
            <a:srgbClr val="F59E0B"/>
          </a:solidFill>
          <a:ln/>
        </p:spPr>
      </p:sp>
      <p:sp>
        <p:nvSpPr>
          <p:cNvPr id="31" name="Shape 29"/>
          <p:cNvSpPr/>
          <p:nvPr/>
        </p:nvSpPr>
        <p:spPr>
          <a:xfrm>
            <a:off x="4855464" y="2880360"/>
            <a:ext cx="475488" cy="475488"/>
          </a:xfrm>
          <a:prstGeom prst="ellipse">
            <a:avLst/>
          </a:prstGeom>
          <a:solidFill>
            <a:srgbClr val="F59E0B"/>
          </a:solidFill>
          <a:ln/>
        </p:spPr>
      </p:sp>
      <p:sp>
        <p:nvSpPr>
          <p:cNvPr id="32" name="Text 30"/>
          <p:cNvSpPr/>
          <p:nvPr/>
        </p:nvSpPr>
        <p:spPr>
          <a:xfrm>
            <a:off x="4855464" y="28803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Black" pitchFamily="34" charset="0"/>
                <a:ea typeface="Arial Black" pitchFamily="34" charset="-122"/>
                <a:cs typeface="Arial Black" pitchFamily="34" charset="-120"/>
              </a:rPr>
              <a:t>5</a:t>
            </a:r>
            <a:endParaRPr lang="en-US" sz="1500" dirty="0"/>
          </a:p>
        </p:txBody>
      </p:sp>
      <p:sp>
        <p:nvSpPr>
          <p:cNvPr id="33" name="Text 31"/>
          <p:cNvSpPr/>
          <p:nvPr/>
        </p:nvSpPr>
        <p:spPr>
          <a:xfrm>
            <a:off x="5394960" y="2651760"/>
            <a:ext cx="352044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Report Agent</a:t>
            </a:r>
            <a:endParaRPr lang="en-US" sz="1300" dirty="0"/>
          </a:p>
        </p:txBody>
      </p:sp>
      <p:sp>
        <p:nvSpPr>
          <p:cNvPr id="34" name="Text 32"/>
          <p:cNvSpPr/>
          <p:nvPr/>
        </p:nvSpPr>
        <p:spPr>
          <a:xfrm>
            <a:off x="5394960" y="2980944"/>
            <a:ext cx="3520440" cy="594360"/>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Finds market edges  ·  Generates HTML report  ·  Upcoming predictions</a:t>
            </a:r>
            <a:endParaRPr lang="en-US" sz="1050" dirty="0"/>
          </a:p>
        </p:txBody>
      </p:sp>
      <p:sp>
        <p:nvSpPr>
          <p:cNvPr id="35" name="Text 33"/>
          <p:cNvSpPr/>
          <p:nvPr/>
        </p:nvSpPr>
        <p:spPr>
          <a:xfrm>
            <a:off x="320040" y="4754880"/>
            <a:ext cx="8503920" cy="27432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Each agent uses the Anthropic Claude Agent SDK agentic loop — it calls tools until its task is complete.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The Data</a:t>
            </a:r>
            <a:endParaRPr lang="en-US" sz="2600" dirty="0"/>
          </a:p>
        </p:txBody>
      </p:sp>
      <p:sp>
        <p:nvSpPr>
          <p:cNvPr id="3" name="Shape 1"/>
          <p:cNvSpPr/>
          <p:nvPr/>
        </p:nvSpPr>
        <p:spPr>
          <a:xfrm>
            <a:off x="457200" y="868680"/>
            <a:ext cx="1097280" cy="50292"/>
          </a:xfrm>
          <a:prstGeom prst="rect">
            <a:avLst/>
          </a:prstGeom>
          <a:solidFill>
            <a:srgbClr val="E85D04"/>
          </a:solidFill>
          <a:ln/>
        </p:spPr>
      </p:sp>
      <p:sp>
        <p:nvSpPr>
          <p:cNvPr id="4" name="Text 2"/>
          <p:cNvSpPr/>
          <p:nvPr/>
        </p:nvSpPr>
        <p:spPr>
          <a:xfrm>
            <a:off x="457200" y="914400"/>
            <a:ext cx="82296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Four data sources — all automated</a:t>
            </a:r>
            <a:endParaRPr lang="en-US" sz="1300" dirty="0"/>
          </a:p>
        </p:txBody>
      </p:sp>
      <p:sp>
        <p:nvSpPr>
          <p:cNvPr id="5" name="Shape 3"/>
          <p:cNvSpPr/>
          <p:nvPr/>
        </p:nvSpPr>
        <p:spPr>
          <a:xfrm>
            <a:off x="320040" y="1325880"/>
            <a:ext cx="4206240" cy="1627632"/>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6" name="Shape 4"/>
          <p:cNvSpPr/>
          <p:nvPr/>
        </p:nvSpPr>
        <p:spPr>
          <a:xfrm>
            <a:off x="320040" y="1325880"/>
            <a:ext cx="50292" cy="1627632"/>
          </a:xfrm>
          <a:prstGeom prst="rect">
            <a:avLst/>
          </a:prstGeom>
          <a:solidFill>
            <a:srgbClr val="0EA5E9"/>
          </a:solidFill>
          <a:ln/>
        </p:spPr>
      </p:sp>
      <p:sp>
        <p:nvSpPr>
          <p:cNvPr id="7" name="Shape 5"/>
          <p:cNvSpPr/>
          <p:nvPr/>
        </p:nvSpPr>
        <p:spPr>
          <a:xfrm>
            <a:off x="438912" y="1453896"/>
            <a:ext cx="585216" cy="585216"/>
          </a:xfrm>
          <a:prstGeom prst="ellipse">
            <a:avLst/>
          </a:prstGeom>
          <a:solidFill>
            <a:srgbClr val="0EA5E9"/>
          </a:solidFill>
          <a:ln/>
        </p:spPr>
      </p:sp>
      <p:sp>
        <p:nvSpPr>
          <p:cNvPr id="8" name="Text 6"/>
          <p:cNvSpPr/>
          <p:nvPr/>
        </p:nvSpPr>
        <p:spPr>
          <a:xfrm>
            <a:off x="438912" y="1490472"/>
            <a:ext cx="585216" cy="51206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9" name="Text 7"/>
          <p:cNvSpPr/>
          <p:nvPr/>
        </p:nvSpPr>
        <p:spPr>
          <a:xfrm>
            <a:off x="1097280" y="1417320"/>
            <a:ext cx="329184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NBA Game History</a:t>
            </a:r>
            <a:endParaRPr lang="en-US" sz="1300" dirty="0"/>
          </a:p>
        </p:txBody>
      </p:sp>
      <p:sp>
        <p:nvSpPr>
          <p:cNvPr id="10" name="Text 8"/>
          <p:cNvSpPr/>
          <p:nvPr/>
        </p:nvSpPr>
        <p:spPr>
          <a:xfrm>
            <a:off x="1097280" y="1783080"/>
            <a:ext cx="3291840" cy="256032"/>
          </a:xfrm>
          <a:prstGeom prst="rect">
            <a:avLst/>
          </a:prstGeom>
          <a:noFill/>
          <a:ln/>
        </p:spPr>
        <p:txBody>
          <a:bodyPr wrap="square" lIns="0" tIns="0" rIns="0" bIns="0" rtlCol="0" anchor="ctr"/>
          <a:lstStyle/>
          <a:p>
            <a:pPr indent="0" marL="0">
              <a:buNone/>
            </a:pPr>
            <a:r>
              <a:rPr lang="en-US" sz="1050" b="1" dirty="0">
                <a:solidFill>
                  <a:srgbClr val="0EA5E9"/>
                </a:solidFill>
                <a:latin typeface="Calibri" pitchFamily="34" charset="0"/>
                <a:ea typeface="Calibri" pitchFamily="34" charset="-122"/>
                <a:cs typeface="Calibri" pitchFamily="34" charset="-120"/>
              </a:rPr>
              <a:t>5 seasons · ~3,500 games</a:t>
            </a:r>
            <a:endParaRPr lang="en-US" sz="1050" dirty="0"/>
          </a:p>
        </p:txBody>
      </p:sp>
      <p:sp>
        <p:nvSpPr>
          <p:cNvPr id="11" name="Text 9"/>
          <p:cNvSpPr/>
          <p:nvPr/>
        </p:nvSpPr>
        <p:spPr>
          <a:xfrm>
            <a:off x="1097280" y="2075688"/>
            <a:ext cx="3291840" cy="749808"/>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Win/loss results, scores, game dates, team matchups via official NBA Stats API (LeagueGameLog).</a:t>
            </a:r>
            <a:endParaRPr lang="en-US" sz="1050" dirty="0"/>
          </a:p>
        </p:txBody>
      </p:sp>
      <p:sp>
        <p:nvSpPr>
          <p:cNvPr id="12" name="Shape 10"/>
          <p:cNvSpPr/>
          <p:nvPr/>
        </p:nvSpPr>
        <p:spPr>
          <a:xfrm>
            <a:off x="4754880" y="1325880"/>
            <a:ext cx="4206240" cy="1627632"/>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3" name="Shape 11"/>
          <p:cNvSpPr/>
          <p:nvPr/>
        </p:nvSpPr>
        <p:spPr>
          <a:xfrm>
            <a:off x="4754880" y="1325880"/>
            <a:ext cx="50292" cy="1627632"/>
          </a:xfrm>
          <a:prstGeom prst="rect">
            <a:avLst/>
          </a:prstGeom>
          <a:solidFill>
            <a:srgbClr val="8B5CF6"/>
          </a:solidFill>
          <a:ln/>
        </p:spPr>
      </p:sp>
      <p:sp>
        <p:nvSpPr>
          <p:cNvPr id="14" name="Shape 12"/>
          <p:cNvSpPr/>
          <p:nvPr/>
        </p:nvSpPr>
        <p:spPr>
          <a:xfrm>
            <a:off x="4873752" y="1453896"/>
            <a:ext cx="585216" cy="585216"/>
          </a:xfrm>
          <a:prstGeom prst="ellipse">
            <a:avLst/>
          </a:prstGeom>
          <a:solidFill>
            <a:srgbClr val="8B5CF6"/>
          </a:solidFill>
          <a:ln/>
        </p:spPr>
      </p:sp>
      <p:sp>
        <p:nvSpPr>
          <p:cNvPr id="15" name="Text 13"/>
          <p:cNvSpPr/>
          <p:nvPr/>
        </p:nvSpPr>
        <p:spPr>
          <a:xfrm>
            <a:off x="4873752" y="1490472"/>
            <a:ext cx="585216" cy="51206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Text 14"/>
          <p:cNvSpPr/>
          <p:nvPr/>
        </p:nvSpPr>
        <p:spPr>
          <a:xfrm>
            <a:off x="5532120" y="1417320"/>
            <a:ext cx="329184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Player Game Logs</a:t>
            </a:r>
            <a:endParaRPr lang="en-US" sz="1300" dirty="0"/>
          </a:p>
        </p:txBody>
      </p:sp>
      <p:sp>
        <p:nvSpPr>
          <p:cNvPr id="17" name="Text 15"/>
          <p:cNvSpPr/>
          <p:nvPr/>
        </p:nvSpPr>
        <p:spPr>
          <a:xfrm>
            <a:off x="5532120" y="1783080"/>
            <a:ext cx="3291840" cy="256032"/>
          </a:xfrm>
          <a:prstGeom prst="rect">
            <a:avLst/>
          </a:prstGeom>
          <a:noFill/>
          <a:ln/>
        </p:spPr>
        <p:txBody>
          <a:bodyPr wrap="square" lIns="0" tIns="0" rIns="0" bIns="0" rtlCol="0" anchor="ctr"/>
          <a:lstStyle/>
          <a:p>
            <a:pPr indent="0" marL="0">
              <a:buNone/>
            </a:pPr>
            <a:r>
              <a:rPr lang="en-US" sz="1050" b="1" dirty="0">
                <a:solidFill>
                  <a:srgbClr val="8B5CF6"/>
                </a:solidFill>
                <a:latin typeface="Calibri" pitchFamily="34" charset="0"/>
                <a:ea typeface="Calibri" pitchFamily="34" charset="-122"/>
                <a:cs typeface="Calibri" pitchFamily="34" charset="-120"/>
              </a:rPr>
              <a:t>~130,000 rows</a:t>
            </a:r>
            <a:endParaRPr lang="en-US" sz="1050" dirty="0"/>
          </a:p>
        </p:txBody>
      </p:sp>
      <p:sp>
        <p:nvSpPr>
          <p:cNvPr id="18" name="Text 16"/>
          <p:cNvSpPr/>
          <p:nvPr/>
        </p:nvSpPr>
        <p:spPr>
          <a:xfrm>
            <a:off x="5532120" y="2075688"/>
            <a:ext cx="3291840" cy="749808"/>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Per-player per-game stats: points, rebounds, assists, plus/minus, minutes, FG%, turnovers.</a:t>
            </a:r>
            <a:endParaRPr lang="en-US" sz="1050" dirty="0"/>
          </a:p>
        </p:txBody>
      </p:sp>
      <p:sp>
        <p:nvSpPr>
          <p:cNvPr id="19" name="Shape 17"/>
          <p:cNvSpPr/>
          <p:nvPr/>
        </p:nvSpPr>
        <p:spPr>
          <a:xfrm>
            <a:off x="320040" y="3108960"/>
            <a:ext cx="4206240" cy="1627632"/>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20" name="Shape 18"/>
          <p:cNvSpPr/>
          <p:nvPr/>
        </p:nvSpPr>
        <p:spPr>
          <a:xfrm>
            <a:off x="320040" y="3108960"/>
            <a:ext cx="50292" cy="1627632"/>
          </a:xfrm>
          <a:prstGeom prst="rect">
            <a:avLst/>
          </a:prstGeom>
          <a:solidFill>
            <a:srgbClr val="E85D04"/>
          </a:solidFill>
          <a:ln/>
        </p:spPr>
      </p:sp>
      <p:sp>
        <p:nvSpPr>
          <p:cNvPr id="21" name="Shape 19"/>
          <p:cNvSpPr/>
          <p:nvPr/>
        </p:nvSpPr>
        <p:spPr>
          <a:xfrm>
            <a:off x="438912" y="3236976"/>
            <a:ext cx="585216" cy="585216"/>
          </a:xfrm>
          <a:prstGeom prst="ellipse">
            <a:avLst/>
          </a:prstGeom>
          <a:solidFill>
            <a:srgbClr val="E85D04"/>
          </a:solidFill>
          <a:ln/>
        </p:spPr>
      </p:sp>
      <p:sp>
        <p:nvSpPr>
          <p:cNvPr id="22" name="Text 20"/>
          <p:cNvSpPr/>
          <p:nvPr/>
        </p:nvSpPr>
        <p:spPr>
          <a:xfrm>
            <a:off x="438912" y="3273552"/>
            <a:ext cx="585216" cy="51206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21"/>
          <p:cNvSpPr/>
          <p:nvPr/>
        </p:nvSpPr>
        <p:spPr>
          <a:xfrm>
            <a:off x="1097280" y="3200400"/>
            <a:ext cx="329184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Advanced Team Stats</a:t>
            </a:r>
            <a:endParaRPr lang="en-US" sz="1300" dirty="0"/>
          </a:p>
        </p:txBody>
      </p:sp>
      <p:sp>
        <p:nvSpPr>
          <p:cNvPr id="24" name="Text 22"/>
          <p:cNvSpPr/>
          <p:nvPr/>
        </p:nvSpPr>
        <p:spPr>
          <a:xfrm>
            <a:off x="1097280" y="3566160"/>
            <a:ext cx="3291840" cy="256032"/>
          </a:xfrm>
          <a:prstGeom prst="rect">
            <a:avLst/>
          </a:prstGeom>
          <a:noFill/>
          <a:ln/>
        </p:spPr>
        <p:txBody>
          <a:bodyPr wrap="square" lIns="0" tIns="0" rIns="0" bIns="0" rtlCol="0" anchor="ctr"/>
          <a:lstStyle/>
          <a:p>
            <a:pPr indent="0" marL="0">
              <a:buNone/>
            </a:pPr>
            <a:r>
              <a:rPr lang="en-US" sz="1050" b="1" dirty="0">
                <a:solidFill>
                  <a:srgbClr val="E85D04"/>
                </a:solidFill>
                <a:latin typeface="Calibri" pitchFamily="34" charset="0"/>
                <a:ea typeface="Calibri" pitchFamily="34" charset="-122"/>
                <a:cs typeface="Calibri" pitchFamily="34" charset="-120"/>
              </a:rPr>
              <a:t>30 teams · 20+ metrics</a:t>
            </a:r>
            <a:endParaRPr lang="en-US" sz="1050" dirty="0"/>
          </a:p>
        </p:txBody>
      </p:sp>
      <p:sp>
        <p:nvSpPr>
          <p:cNvPr id="25" name="Text 23"/>
          <p:cNvSpPr/>
          <p:nvPr/>
        </p:nvSpPr>
        <p:spPr>
          <a:xfrm>
            <a:off x="1097280" y="3858768"/>
            <a:ext cx="3291840" cy="749808"/>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Offensive/defensive rating, pace, eFG%, TS%, OREB%, DREB%, TOV%, AST ratio, PIE.</a:t>
            </a:r>
            <a:endParaRPr lang="en-US" sz="1050" dirty="0"/>
          </a:p>
        </p:txBody>
      </p:sp>
      <p:sp>
        <p:nvSpPr>
          <p:cNvPr id="26" name="Shape 24"/>
          <p:cNvSpPr/>
          <p:nvPr/>
        </p:nvSpPr>
        <p:spPr>
          <a:xfrm>
            <a:off x="4754880" y="3108960"/>
            <a:ext cx="4206240" cy="1627632"/>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27" name="Shape 25"/>
          <p:cNvSpPr/>
          <p:nvPr/>
        </p:nvSpPr>
        <p:spPr>
          <a:xfrm>
            <a:off x="4754880" y="3108960"/>
            <a:ext cx="50292" cy="1627632"/>
          </a:xfrm>
          <a:prstGeom prst="rect">
            <a:avLst/>
          </a:prstGeom>
          <a:solidFill>
            <a:srgbClr val="22C55E"/>
          </a:solidFill>
          <a:ln/>
        </p:spPr>
      </p:sp>
      <p:sp>
        <p:nvSpPr>
          <p:cNvPr id="28" name="Shape 26"/>
          <p:cNvSpPr/>
          <p:nvPr/>
        </p:nvSpPr>
        <p:spPr>
          <a:xfrm>
            <a:off x="4873752" y="3236976"/>
            <a:ext cx="585216" cy="585216"/>
          </a:xfrm>
          <a:prstGeom prst="ellipse">
            <a:avLst/>
          </a:prstGeom>
          <a:solidFill>
            <a:srgbClr val="22C55E"/>
          </a:solidFill>
          <a:ln/>
        </p:spPr>
      </p:sp>
      <p:sp>
        <p:nvSpPr>
          <p:cNvPr id="29" name="Text 27"/>
          <p:cNvSpPr/>
          <p:nvPr/>
        </p:nvSpPr>
        <p:spPr>
          <a:xfrm>
            <a:off x="4873752" y="3273552"/>
            <a:ext cx="585216" cy="51206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0" name="Text 28"/>
          <p:cNvSpPr/>
          <p:nvPr/>
        </p:nvSpPr>
        <p:spPr>
          <a:xfrm>
            <a:off x="5532120" y="3200400"/>
            <a:ext cx="329184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Polymarket Odds</a:t>
            </a:r>
            <a:endParaRPr lang="en-US" sz="1300" dirty="0"/>
          </a:p>
        </p:txBody>
      </p:sp>
      <p:sp>
        <p:nvSpPr>
          <p:cNvPr id="31" name="Text 29"/>
          <p:cNvSpPr/>
          <p:nvPr/>
        </p:nvSpPr>
        <p:spPr>
          <a:xfrm>
            <a:off x="5532120" y="3566160"/>
            <a:ext cx="3291840" cy="256032"/>
          </a:xfrm>
          <a:prstGeom prst="rect">
            <a:avLst/>
          </a:prstGeom>
          <a:noFill/>
          <a:ln/>
        </p:spPr>
        <p:txBody>
          <a:bodyPr wrap="square" lIns="0" tIns="0" rIns="0" bIns="0" rtlCol="0" anchor="ctr"/>
          <a:lstStyle/>
          <a:p>
            <a:pPr indent="0" marL="0">
              <a:buNone/>
            </a:pPr>
            <a:r>
              <a:rPr lang="en-US" sz="1050" b="1" dirty="0">
                <a:solidFill>
                  <a:srgbClr val="22C55E"/>
                </a:solidFill>
                <a:latin typeface="Calibri" pitchFamily="34" charset="0"/>
                <a:ea typeface="Calibri" pitchFamily="34" charset="-122"/>
                <a:cs typeface="Calibri" pitchFamily="34" charset="-120"/>
              </a:rPr>
              <a:t>Live moneyline prices</a:t>
            </a:r>
            <a:endParaRPr lang="en-US" sz="1050" dirty="0"/>
          </a:p>
        </p:txBody>
      </p:sp>
      <p:sp>
        <p:nvSpPr>
          <p:cNvPr id="32" name="Text 30"/>
          <p:cNvSpPr/>
          <p:nvPr/>
        </p:nvSpPr>
        <p:spPr>
          <a:xfrm>
            <a:off x="5532120" y="3858768"/>
            <a:ext cx="3291840" cy="749808"/>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Real-money prediction market odds for specific NBA games. Used to find model vs. market edges.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69+ Engineered Features</a:t>
            </a:r>
            <a:endParaRPr lang="en-US" sz="2600" dirty="0"/>
          </a:p>
        </p:txBody>
      </p:sp>
      <p:sp>
        <p:nvSpPr>
          <p:cNvPr id="3" name="Shape 1"/>
          <p:cNvSpPr/>
          <p:nvPr/>
        </p:nvSpPr>
        <p:spPr>
          <a:xfrm>
            <a:off x="457200" y="868680"/>
            <a:ext cx="1097280" cy="50292"/>
          </a:xfrm>
          <a:prstGeom prst="rect">
            <a:avLst/>
          </a:prstGeom>
          <a:solidFill>
            <a:srgbClr val="E85D04"/>
          </a:solidFill>
          <a:ln/>
        </p:spPr>
      </p:sp>
      <p:sp>
        <p:nvSpPr>
          <p:cNvPr id="4" name="Text 2"/>
          <p:cNvSpPr/>
          <p:nvPr/>
        </p:nvSpPr>
        <p:spPr>
          <a:xfrm>
            <a:off x="457200" y="914400"/>
            <a:ext cx="82296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Across 7 categories — computed leakage-free with TimeSeriesSplit</a:t>
            </a:r>
            <a:endParaRPr lang="en-US" sz="1300" dirty="0"/>
          </a:p>
        </p:txBody>
      </p:sp>
      <p:sp>
        <p:nvSpPr>
          <p:cNvPr id="5" name="Shape 3"/>
          <p:cNvSpPr/>
          <p:nvPr/>
        </p:nvSpPr>
        <p:spPr>
          <a:xfrm>
            <a:off x="320040" y="1325880"/>
            <a:ext cx="2103120" cy="157276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6" name="Shape 4"/>
          <p:cNvSpPr/>
          <p:nvPr/>
        </p:nvSpPr>
        <p:spPr>
          <a:xfrm>
            <a:off x="320040" y="1325880"/>
            <a:ext cx="50292" cy="1572768"/>
          </a:xfrm>
          <a:prstGeom prst="rect">
            <a:avLst/>
          </a:prstGeom>
          <a:solidFill>
            <a:srgbClr val="0EA5E9"/>
          </a:solidFill>
          <a:ln/>
        </p:spPr>
      </p:sp>
      <p:sp>
        <p:nvSpPr>
          <p:cNvPr id="7" name="Shape 5"/>
          <p:cNvSpPr/>
          <p:nvPr/>
        </p:nvSpPr>
        <p:spPr>
          <a:xfrm>
            <a:off x="1069848" y="1481328"/>
            <a:ext cx="603504" cy="603504"/>
          </a:xfrm>
          <a:prstGeom prst="ellipse">
            <a:avLst/>
          </a:prstGeom>
          <a:solidFill>
            <a:srgbClr val="0EA5E9"/>
          </a:solidFill>
          <a:ln/>
        </p:spPr>
      </p:sp>
      <p:sp>
        <p:nvSpPr>
          <p:cNvPr id="8" name="Text 6"/>
          <p:cNvSpPr/>
          <p:nvPr/>
        </p:nvSpPr>
        <p:spPr>
          <a:xfrm>
            <a:off x="411480" y="1527048"/>
            <a:ext cx="1920240" cy="51206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9" name="Text 7"/>
          <p:cNvSpPr/>
          <p:nvPr/>
        </p:nvSpPr>
        <p:spPr>
          <a:xfrm>
            <a:off x="411480" y="2039112"/>
            <a:ext cx="1920240" cy="3657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Black" pitchFamily="34" charset="0"/>
                <a:ea typeface="Arial Black" pitchFamily="34" charset="-122"/>
                <a:cs typeface="Arial Black" pitchFamily="34" charset="-120"/>
              </a:rPr>
              <a:t>4</a:t>
            </a:r>
            <a:endParaRPr lang="en-US" sz="2600" dirty="0"/>
          </a:p>
        </p:txBody>
      </p:sp>
      <p:sp>
        <p:nvSpPr>
          <p:cNvPr id="10" name="Text 8"/>
          <p:cNvSpPr/>
          <p:nvPr/>
        </p:nvSpPr>
        <p:spPr>
          <a:xfrm>
            <a:off x="411480" y="2404872"/>
            <a:ext cx="19202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Elo Ratings</a:t>
            </a:r>
            <a:endParaRPr lang="en-US" sz="1050" dirty="0"/>
          </a:p>
        </p:txBody>
      </p:sp>
      <p:sp>
        <p:nvSpPr>
          <p:cNvPr id="11" name="Text 9"/>
          <p:cNvSpPr/>
          <p:nvPr/>
        </p:nvSpPr>
        <p:spPr>
          <a:xfrm>
            <a:off x="411480" y="2679192"/>
            <a:ext cx="1920240" cy="201168"/>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Pre-game Elo, expected win prob, diff</a:t>
            </a:r>
            <a:endParaRPr lang="en-US" sz="850" dirty="0"/>
          </a:p>
        </p:txBody>
      </p:sp>
      <p:sp>
        <p:nvSpPr>
          <p:cNvPr id="12" name="Shape 10"/>
          <p:cNvSpPr/>
          <p:nvPr/>
        </p:nvSpPr>
        <p:spPr>
          <a:xfrm>
            <a:off x="2487168" y="1325880"/>
            <a:ext cx="2103120" cy="157276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3" name="Shape 11"/>
          <p:cNvSpPr/>
          <p:nvPr/>
        </p:nvSpPr>
        <p:spPr>
          <a:xfrm>
            <a:off x="2487168" y="1325880"/>
            <a:ext cx="50292" cy="1572768"/>
          </a:xfrm>
          <a:prstGeom prst="rect">
            <a:avLst/>
          </a:prstGeom>
          <a:solidFill>
            <a:srgbClr val="8B5CF6"/>
          </a:solidFill>
          <a:ln/>
        </p:spPr>
      </p:sp>
      <p:sp>
        <p:nvSpPr>
          <p:cNvPr id="14" name="Shape 12"/>
          <p:cNvSpPr/>
          <p:nvPr/>
        </p:nvSpPr>
        <p:spPr>
          <a:xfrm>
            <a:off x="3236976" y="1481328"/>
            <a:ext cx="603504" cy="603504"/>
          </a:xfrm>
          <a:prstGeom prst="ellipse">
            <a:avLst/>
          </a:prstGeom>
          <a:solidFill>
            <a:srgbClr val="8B5CF6"/>
          </a:solidFill>
          <a:ln/>
        </p:spPr>
      </p:sp>
      <p:sp>
        <p:nvSpPr>
          <p:cNvPr id="15" name="Text 13"/>
          <p:cNvSpPr/>
          <p:nvPr/>
        </p:nvSpPr>
        <p:spPr>
          <a:xfrm>
            <a:off x="2578608" y="1527048"/>
            <a:ext cx="1920240" cy="51206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Text 14"/>
          <p:cNvSpPr/>
          <p:nvPr/>
        </p:nvSpPr>
        <p:spPr>
          <a:xfrm>
            <a:off x="2578608" y="2039112"/>
            <a:ext cx="1920240" cy="3657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Black" pitchFamily="34" charset="0"/>
                <a:ea typeface="Arial Black" pitchFamily="34" charset="-122"/>
                <a:cs typeface="Arial Black" pitchFamily="34" charset="-120"/>
              </a:rPr>
              <a:t>16</a:t>
            </a:r>
            <a:endParaRPr lang="en-US" sz="2600" dirty="0"/>
          </a:p>
        </p:txBody>
      </p:sp>
      <p:sp>
        <p:nvSpPr>
          <p:cNvPr id="17" name="Text 15"/>
          <p:cNvSpPr/>
          <p:nvPr/>
        </p:nvSpPr>
        <p:spPr>
          <a:xfrm>
            <a:off x="2578608" y="2404872"/>
            <a:ext cx="19202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Rolling Form</a:t>
            </a:r>
            <a:endParaRPr lang="en-US" sz="1050" dirty="0"/>
          </a:p>
        </p:txBody>
      </p:sp>
      <p:sp>
        <p:nvSpPr>
          <p:cNvPr id="18" name="Text 16"/>
          <p:cNvSpPr/>
          <p:nvPr/>
        </p:nvSpPr>
        <p:spPr>
          <a:xfrm>
            <a:off x="2578608" y="2679192"/>
            <a:ext cx="1920240" cy="201168"/>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5- &amp; 10-game win%, pts scored/allowed</a:t>
            </a:r>
            <a:endParaRPr lang="en-US" sz="850" dirty="0"/>
          </a:p>
        </p:txBody>
      </p:sp>
      <p:sp>
        <p:nvSpPr>
          <p:cNvPr id="19" name="Shape 17"/>
          <p:cNvSpPr/>
          <p:nvPr/>
        </p:nvSpPr>
        <p:spPr>
          <a:xfrm>
            <a:off x="4654296" y="1325880"/>
            <a:ext cx="2103120" cy="157276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20" name="Shape 18"/>
          <p:cNvSpPr/>
          <p:nvPr/>
        </p:nvSpPr>
        <p:spPr>
          <a:xfrm>
            <a:off x="4654296" y="1325880"/>
            <a:ext cx="50292" cy="1572768"/>
          </a:xfrm>
          <a:prstGeom prst="rect">
            <a:avLst/>
          </a:prstGeom>
          <a:solidFill>
            <a:srgbClr val="22C55E"/>
          </a:solidFill>
          <a:ln/>
        </p:spPr>
      </p:sp>
      <p:sp>
        <p:nvSpPr>
          <p:cNvPr id="21" name="Shape 19"/>
          <p:cNvSpPr/>
          <p:nvPr/>
        </p:nvSpPr>
        <p:spPr>
          <a:xfrm>
            <a:off x="5404104" y="1481328"/>
            <a:ext cx="603504" cy="603504"/>
          </a:xfrm>
          <a:prstGeom prst="ellipse">
            <a:avLst/>
          </a:prstGeom>
          <a:solidFill>
            <a:srgbClr val="22C55E"/>
          </a:solidFill>
          <a:ln/>
        </p:spPr>
      </p:sp>
      <p:sp>
        <p:nvSpPr>
          <p:cNvPr id="22" name="Text 20"/>
          <p:cNvSpPr/>
          <p:nvPr/>
        </p:nvSpPr>
        <p:spPr>
          <a:xfrm>
            <a:off x="4745736" y="1527048"/>
            <a:ext cx="1920240" cy="51206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21"/>
          <p:cNvSpPr/>
          <p:nvPr/>
        </p:nvSpPr>
        <p:spPr>
          <a:xfrm>
            <a:off x="4745736" y="2039112"/>
            <a:ext cx="1920240" cy="3657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Black" pitchFamily="34" charset="0"/>
                <a:ea typeface="Arial Black" pitchFamily="34" charset="-122"/>
                <a:cs typeface="Arial Black" pitchFamily="34" charset="-120"/>
              </a:rPr>
              <a:t>5</a:t>
            </a:r>
            <a:endParaRPr lang="en-US" sz="2600" dirty="0"/>
          </a:p>
        </p:txBody>
      </p:sp>
      <p:sp>
        <p:nvSpPr>
          <p:cNvPr id="24" name="Text 22"/>
          <p:cNvSpPr/>
          <p:nvPr/>
        </p:nvSpPr>
        <p:spPr>
          <a:xfrm>
            <a:off x="4745736" y="2404872"/>
            <a:ext cx="19202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Rest &amp; Fatigue</a:t>
            </a:r>
            <a:endParaRPr lang="en-US" sz="1050" dirty="0"/>
          </a:p>
        </p:txBody>
      </p:sp>
      <p:sp>
        <p:nvSpPr>
          <p:cNvPr id="25" name="Text 23"/>
          <p:cNvSpPr/>
          <p:nvPr/>
        </p:nvSpPr>
        <p:spPr>
          <a:xfrm>
            <a:off x="4745736" y="2679192"/>
            <a:ext cx="1920240" cy="201168"/>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Days rest, back-to-backs, rest advantage</a:t>
            </a:r>
            <a:endParaRPr lang="en-US" sz="850" dirty="0"/>
          </a:p>
        </p:txBody>
      </p:sp>
      <p:sp>
        <p:nvSpPr>
          <p:cNvPr id="26" name="Shape 24"/>
          <p:cNvSpPr/>
          <p:nvPr/>
        </p:nvSpPr>
        <p:spPr>
          <a:xfrm>
            <a:off x="6821424" y="1325880"/>
            <a:ext cx="2103120" cy="157276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27" name="Shape 25"/>
          <p:cNvSpPr/>
          <p:nvPr/>
        </p:nvSpPr>
        <p:spPr>
          <a:xfrm>
            <a:off x="6821424" y="1325880"/>
            <a:ext cx="50292" cy="1572768"/>
          </a:xfrm>
          <a:prstGeom prst="rect">
            <a:avLst/>
          </a:prstGeom>
          <a:solidFill>
            <a:srgbClr val="E85D04"/>
          </a:solidFill>
          <a:ln/>
        </p:spPr>
      </p:sp>
      <p:sp>
        <p:nvSpPr>
          <p:cNvPr id="28" name="Shape 26"/>
          <p:cNvSpPr/>
          <p:nvPr/>
        </p:nvSpPr>
        <p:spPr>
          <a:xfrm>
            <a:off x="7571232" y="1481328"/>
            <a:ext cx="603504" cy="603504"/>
          </a:xfrm>
          <a:prstGeom prst="ellipse">
            <a:avLst/>
          </a:prstGeom>
          <a:solidFill>
            <a:srgbClr val="E85D04"/>
          </a:solidFill>
          <a:ln/>
        </p:spPr>
      </p:sp>
      <p:sp>
        <p:nvSpPr>
          <p:cNvPr id="29" name="Text 27"/>
          <p:cNvSpPr/>
          <p:nvPr/>
        </p:nvSpPr>
        <p:spPr>
          <a:xfrm>
            <a:off x="6912864" y="1527048"/>
            <a:ext cx="1920240" cy="51206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0" name="Text 28"/>
          <p:cNvSpPr/>
          <p:nvPr/>
        </p:nvSpPr>
        <p:spPr>
          <a:xfrm>
            <a:off x="6912864" y="2039112"/>
            <a:ext cx="1920240" cy="3657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Black" pitchFamily="34" charset="0"/>
                <a:ea typeface="Arial Black" pitchFamily="34" charset="-122"/>
                <a:cs typeface="Arial Black" pitchFamily="34" charset="-120"/>
              </a:rPr>
              <a:t>6</a:t>
            </a:r>
            <a:endParaRPr lang="en-US" sz="2600" dirty="0"/>
          </a:p>
        </p:txBody>
      </p:sp>
      <p:sp>
        <p:nvSpPr>
          <p:cNvPr id="31" name="Text 29"/>
          <p:cNvSpPr/>
          <p:nvPr/>
        </p:nvSpPr>
        <p:spPr>
          <a:xfrm>
            <a:off x="6912864" y="2404872"/>
            <a:ext cx="19202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Momentum &amp; Streaks</a:t>
            </a:r>
            <a:endParaRPr lang="en-US" sz="1050" dirty="0"/>
          </a:p>
        </p:txBody>
      </p:sp>
      <p:sp>
        <p:nvSpPr>
          <p:cNvPr id="32" name="Text 30"/>
          <p:cNvSpPr/>
          <p:nvPr/>
        </p:nvSpPr>
        <p:spPr>
          <a:xfrm>
            <a:off x="6912864" y="2679192"/>
            <a:ext cx="1920240" cy="201168"/>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Win streak, home/away splits, trend</a:t>
            </a:r>
            <a:endParaRPr lang="en-US" sz="850" dirty="0"/>
          </a:p>
        </p:txBody>
      </p:sp>
      <p:sp>
        <p:nvSpPr>
          <p:cNvPr id="33" name="Shape 31"/>
          <p:cNvSpPr/>
          <p:nvPr/>
        </p:nvSpPr>
        <p:spPr>
          <a:xfrm>
            <a:off x="1371600" y="3026664"/>
            <a:ext cx="2103120" cy="157276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34" name="Shape 32"/>
          <p:cNvSpPr/>
          <p:nvPr/>
        </p:nvSpPr>
        <p:spPr>
          <a:xfrm>
            <a:off x="1371600" y="3026664"/>
            <a:ext cx="50292" cy="1572768"/>
          </a:xfrm>
          <a:prstGeom prst="rect">
            <a:avLst/>
          </a:prstGeom>
          <a:solidFill>
            <a:srgbClr val="F59E0B"/>
          </a:solidFill>
          <a:ln/>
        </p:spPr>
      </p:sp>
      <p:sp>
        <p:nvSpPr>
          <p:cNvPr id="35" name="Shape 33"/>
          <p:cNvSpPr/>
          <p:nvPr/>
        </p:nvSpPr>
        <p:spPr>
          <a:xfrm>
            <a:off x="2121408" y="3182112"/>
            <a:ext cx="603504" cy="603504"/>
          </a:xfrm>
          <a:prstGeom prst="ellipse">
            <a:avLst/>
          </a:prstGeom>
          <a:solidFill>
            <a:srgbClr val="F59E0B"/>
          </a:solidFill>
          <a:ln/>
        </p:spPr>
      </p:sp>
      <p:sp>
        <p:nvSpPr>
          <p:cNvPr id="36" name="Text 34"/>
          <p:cNvSpPr/>
          <p:nvPr/>
        </p:nvSpPr>
        <p:spPr>
          <a:xfrm>
            <a:off x="1463040" y="3227832"/>
            <a:ext cx="1920240" cy="51206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7" name="Text 35"/>
          <p:cNvSpPr/>
          <p:nvPr/>
        </p:nvSpPr>
        <p:spPr>
          <a:xfrm>
            <a:off x="1463040" y="3739896"/>
            <a:ext cx="1920240" cy="3657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Black" pitchFamily="34" charset="0"/>
                <a:ea typeface="Arial Black" pitchFamily="34" charset="-122"/>
                <a:cs typeface="Arial Black" pitchFamily="34" charset="-120"/>
              </a:rPr>
              <a:t>2</a:t>
            </a:r>
            <a:endParaRPr lang="en-US" sz="2600" dirty="0"/>
          </a:p>
        </p:txBody>
      </p:sp>
      <p:sp>
        <p:nvSpPr>
          <p:cNvPr id="38" name="Text 36"/>
          <p:cNvSpPr/>
          <p:nvPr/>
        </p:nvSpPr>
        <p:spPr>
          <a:xfrm>
            <a:off x="1463040" y="4105656"/>
            <a:ext cx="19202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Head-to-Head</a:t>
            </a:r>
            <a:endParaRPr lang="en-US" sz="1050" dirty="0"/>
          </a:p>
        </p:txBody>
      </p:sp>
      <p:sp>
        <p:nvSpPr>
          <p:cNvPr id="39" name="Text 37"/>
          <p:cNvSpPr/>
          <p:nvPr/>
        </p:nvSpPr>
        <p:spPr>
          <a:xfrm>
            <a:off x="1463040" y="4379976"/>
            <a:ext cx="1920240" cy="201168"/>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H2H win%, games played between teams</a:t>
            </a:r>
            <a:endParaRPr lang="en-US" sz="850" dirty="0"/>
          </a:p>
        </p:txBody>
      </p:sp>
      <p:sp>
        <p:nvSpPr>
          <p:cNvPr id="40" name="Shape 38"/>
          <p:cNvSpPr/>
          <p:nvPr/>
        </p:nvSpPr>
        <p:spPr>
          <a:xfrm>
            <a:off x="3538728" y="3026664"/>
            <a:ext cx="2103120" cy="157276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41" name="Shape 39"/>
          <p:cNvSpPr/>
          <p:nvPr/>
        </p:nvSpPr>
        <p:spPr>
          <a:xfrm>
            <a:off x="3538728" y="3026664"/>
            <a:ext cx="50292" cy="1572768"/>
          </a:xfrm>
          <a:prstGeom prst="rect">
            <a:avLst/>
          </a:prstGeom>
          <a:solidFill>
            <a:srgbClr val="EC4899"/>
          </a:solidFill>
          <a:ln/>
        </p:spPr>
      </p:sp>
      <p:sp>
        <p:nvSpPr>
          <p:cNvPr id="42" name="Shape 40"/>
          <p:cNvSpPr/>
          <p:nvPr/>
        </p:nvSpPr>
        <p:spPr>
          <a:xfrm>
            <a:off x="4288536" y="3182112"/>
            <a:ext cx="603504" cy="603504"/>
          </a:xfrm>
          <a:prstGeom prst="ellipse">
            <a:avLst/>
          </a:prstGeom>
          <a:solidFill>
            <a:srgbClr val="EC4899"/>
          </a:solidFill>
          <a:ln/>
        </p:spPr>
      </p:sp>
      <p:sp>
        <p:nvSpPr>
          <p:cNvPr id="43" name="Text 41"/>
          <p:cNvSpPr/>
          <p:nvPr/>
        </p:nvSpPr>
        <p:spPr>
          <a:xfrm>
            <a:off x="3630168" y="3227832"/>
            <a:ext cx="1920240" cy="51206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4" name="Text 42"/>
          <p:cNvSpPr/>
          <p:nvPr/>
        </p:nvSpPr>
        <p:spPr>
          <a:xfrm>
            <a:off x="3630168" y="3739896"/>
            <a:ext cx="1920240" cy="3657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Black" pitchFamily="34" charset="0"/>
                <a:ea typeface="Arial Black" pitchFamily="34" charset="-122"/>
                <a:cs typeface="Arial Black" pitchFamily="34" charset="-120"/>
              </a:rPr>
              <a:t>3</a:t>
            </a:r>
            <a:endParaRPr lang="en-US" sz="2600" dirty="0"/>
          </a:p>
        </p:txBody>
      </p:sp>
      <p:sp>
        <p:nvSpPr>
          <p:cNvPr id="45" name="Text 43"/>
          <p:cNvSpPr/>
          <p:nvPr/>
        </p:nvSpPr>
        <p:spPr>
          <a:xfrm>
            <a:off x="3630168" y="4105656"/>
            <a:ext cx="19202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Strength of Schedule</a:t>
            </a:r>
            <a:endParaRPr lang="en-US" sz="1050" dirty="0"/>
          </a:p>
        </p:txBody>
      </p:sp>
      <p:sp>
        <p:nvSpPr>
          <p:cNvPr id="46" name="Text 44"/>
          <p:cNvSpPr/>
          <p:nvPr/>
        </p:nvSpPr>
        <p:spPr>
          <a:xfrm>
            <a:off x="3630168" y="4379976"/>
            <a:ext cx="1920240" cy="201168"/>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Avg opponent quality home/away</a:t>
            </a:r>
            <a:endParaRPr lang="en-US" sz="850" dirty="0"/>
          </a:p>
        </p:txBody>
      </p:sp>
      <p:sp>
        <p:nvSpPr>
          <p:cNvPr id="47" name="Shape 45"/>
          <p:cNvSpPr/>
          <p:nvPr/>
        </p:nvSpPr>
        <p:spPr>
          <a:xfrm>
            <a:off x="5705856" y="3026664"/>
            <a:ext cx="2103120" cy="157276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48" name="Shape 46"/>
          <p:cNvSpPr/>
          <p:nvPr/>
        </p:nvSpPr>
        <p:spPr>
          <a:xfrm>
            <a:off x="5705856" y="3026664"/>
            <a:ext cx="50292" cy="1572768"/>
          </a:xfrm>
          <a:prstGeom prst="rect">
            <a:avLst/>
          </a:prstGeom>
          <a:solidFill>
            <a:srgbClr val="A78BFA"/>
          </a:solidFill>
          <a:ln/>
        </p:spPr>
      </p:sp>
      <p:sp>
        <p:nvSpPr>
          <p:cNvPr id="49" name="Shape 47"/>
          <p:cNvSpPr/>
          <p:nvPr/>
        </p:nvSpPr>
        <p:spPr>
          <a:xfrm>
            <a:off x="6455664" y="3182112"/>
            <a:ext cx="603504" cy="603504"/>
          </a:xfrm>
          <a:prstGeom prst="ellipse">
            <a:avLst/>
          </a:prstGeom>
          <a:solidFill>
            <a:srgbClr val="A78BFA"/>
          </a:solidFill>
          <a:ln/>
        </p:spPr>
      </p:sp>
      <p:sp>
        <p:nvSpPr>
          <p:cNvPr id="50" name="Text 48"/>
          <p:cNvSpPr/>
          <p:nvPr/>
        </p:nvSpPr>
        <p:spPr>
          <a:xfrm>
            <a:off x="5797296" y="3227832"/>
            <a:ext cx="1920240" cy="51206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1" name="Text 49"/>
          <p:cNvSpPr/>
          <p:nvPr/>
        </p:nvSpPr>
        <p:spPr>
          <a:xfrm>
            <a:off x="5797296" y="3739896"/>
            <a:ext cx="1920240" cy="3657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Black" pitchFamily="34" charset="0"/>
                <a:ea typeface="Arial Black" pitchFamily="34" charset="-122"/>
                <a:cs typeface="Arial Black" pitchFamily="34" charset="-120"/>
              </a:rPr>
              <a:t>14</a:t>
            </a:r>
            <a:endParaRPr lang="en-US" sz="2600" dirty="0"/>
          </a:p>
        </p:txBody>
      </p:sp>
      <p:sp>
        <p:nvSpPr>
          <p:cNvPr id="52" name="Text 50"/>
          <p:cNvSpPr/>
          <p:nvPr/>
        </p:nvSpPr>
        <p:spPr>
          <a:xfrm>
            <a:off x="5797296" y="4105656"/>
            <a:ext cx="19202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Player Strength</a:t>
            </a:r>
            <a:endParaRPr lang="en-US" sz="1050" dirty="0"/>
          </a:p>
        </p:txBody>
      </p:sp>
      <p:sp>
        <p:nvSpPr>
          <p:cNvPr id="53" name="Text 51"/>
          <p:cNvSpPr/>
          <p:nvPr/>
        </p:nvSpPr>
        <p:spPr>
          <a:xfrm>
            <a:off x="5797296" y="4379976"/>
            <a:ext cx="1920240" cy="201168"/>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Roster GameScore, star form, depth, +/-</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The Meta-Scientist</a:t>
            </a:r>
            <a:endParaRPr lang="en-US" sz="2600" dirty="0"/>
          </a:p>
        </p:txBody>
      </p:sp>
      <p:sp>
        <p:nvSpPr>
          <p:cNvPr id="3" name="Shape 1"/>
          <p:cNvSpPr/>
          <p:nvPr/>
        </p:nvSpPr>
        <p:spPr>
          <a:xfrm>
            <a:off x="457200" y="868680"/>
            <a:ext cx="1097280" cy="50292"/>
          </a:xfrm>
          <a:prstGeom prst="rect">
            <a:avLst/>
          </a:prstGeom>
          <a:solidFill>
            <a:srgbClr val="E85D04"/>
          </a:solidFill>
          <a:ln/>
        </p:spPr>
      </p:sp>
      <p:sp>
        <p:nvSpPr>
          <p:cNvPr id="4" name="Text 2"/>
          <p:cNvSpPr/>
          <p:nvPr/>
        </p:nvSpPr>
        <p:spPr>
          <a:xfrm>
            <a:off x="457200" y="914400"/>
            <a:ext cx="82296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A self-improving AI researcher powered by Claude Opus</a:t>
            </a:r>
            <a:endParaRPr lang="en-US" sz="1300" dirty="0"/>
          </a:p>
        </p:txBody>
      </p:sp>
      <p:sp>
        <p:nvSpPr>
          <p:cNvPr id="5" name="Shape 3"/>
          <p:cNvSpPr/>
          <p:nvPr/>
        </p:nvSpPr>
        <p:spPr>
          <a:xfrm>
            <a:off x="1005840" y="1143000"/>
            <a:ext cx="1737360" cy="100584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6" name="Shape 4"/>
          <p:cNvSpPr/>
          <p:nvPr/>
        </p:nvSpPr>
        <p:spPr>
          <a:xfrm>
            <a:off x="1005840" y="1143000"/>
            <a:ext cx="50292" cy="1005840"/>
          </a:xfrm>
          <a:prstGeom prst="rect">
            <a:avLst/>
          </a:prstGeom>
          <a:solidFill>
            <a:srgbClr val="0EA5E9"/>
          </a:solidFill>
          <a:ln/>
        </p:spPr>
      </p:sp>
      <p:sp>
        <p:nvSpPr>
          <p:cNvPr id="7" name="Text 5"/>
          <p:cNvSpPr/>
          <p:nvPr/>
        </p:nvSpPr>
        <p:spPr>
          <a:xfrm>
            <a:off x="1097280" y="1197864"/>
            <a:ext cx="1600200" cy="347472"/>
          </a:xfrm>
          <a:prstGeom prst="rect">
            <a:avLst/>
          </a:prstGeom>
          <a:noFill/>
          <a:ln/>
        </p:spPr>
        <p:txBody>
          <a:bodyPr wrap="square" lIns="0" tIns="0" rIns="0" bIns="0" rtlCol="0" anchor="ctr"/>
          <a:lstStyle/>
          <a:p>
            <a:pPr indent="0" marL="0">
              <a:buNone/>
            </a:pPr>
            <a:r>
              <a:rPr lang="en-US" sz="1100" b="1" dirty="0">
                <a:solidFill>
                  <a:srgbClr val="FFFFFF"/>
                </a:solidFill>
                <a:latin typeface="Arial Black" pitchFamily="34" charset="0"/>
                <a:ea typeface="Arial Black" pitchFamily="34" charset="-122"/>
                <a:cs typeface="Arial Black" pitchFamily="34" charset="-120"/>
              </a:rPr>
              <a:t>📖 Read History</a:t>
            </a:r>
            <a:endParaRPr lang="en-US" sz="1100" dirty="0"/>
          </a:p>
        </p:txBody>
      </p:sp>
      <p:sp>
        <p:nvSpPr>
          <p:cNvPr id="8" name="Text 6"/>
          <p:cNvSpPr/>
          <p:nvPr/>
        </p:nvSpPr>
        <p:spPr>
          <a:xfrm>
            <a:off x="1097280" y="1572768"/>
            <a:ext cx="1600200" cy="50292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scientist_history.md</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accumulated learnings</a:t>
            </a:r>
            <a:endParaRPr lang="en-US" sz="950" dirty="0"/>
          </a:p>
        </p:txBody>
      </p:sp>
      <p:sp>
        <p:nvSpPr>
          <p:cNvPr id="9" name="Shape 7"/>
          <p:cNvSpPr/>
          <p:nvPr/>
        </p:nvSpPr>
        <p:spPr>
          <a:xfrm>
            <a:off x="6355080" y="1143000"/>
            <a:ext cx="1737360" cy="100584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0" name="Shape 8"/>
          <p:cNvSpPr/>
          <p:nvPr/>
        </p:nvSpPr>
        <p:spPr>
          <a:xfrm>
            <a:off x="6355080" y="1143000"/>
            <a:ext cx="50292" cy="1005840"/>
          </a:xfrm>
          <a:prstGeom prst="rect">
            <a:avLst/>
          </a:prstGeom>
          <a:solidFill>
            <a:srgbClr val="E85D04"/>
          </a:solidFill>
          <a:ln/>
        </p:spPr>
      </p:sp>
      <p:sp>
        <p:nvSpPr>
          <p:cNvPr id="11" name="Text 9"/>
          <p:cNvSpPr/>
          <p:nvPr/>
        </p:nvSpPr>
        <p:spPr>
          <a:xfrm>
            <a:off x="6446520" y="1197864"/>
            <a:ext cx="1600200" cy="347472"/>
          </a:xfrm>
          <a:prstGeom prst="rect">
            <a:avLst/>
          </a:prstGeom>
          <a:noFill/>
          <a:ln/>
        </p:spPr>
        <p:txBody>
          <a:bodyPr wrap="square" lIns="0" tIns="0" rIns="0" bIns="0" rtlCol="0" anchor="ctr"/>
          <a:lstStyle/>
          <a:p>
            <a:pPr indent="0" marL="0">
              <a:buNone/>
            </a:pPr>
            <a:r>
              <a:rPr lang="en-US" sz="1100" b="1" dirty="0">
                <a:solidFill>
                  <a:srgbClr val="FFFFFF"/>
                </a:solidFill>
                <a:latin typeface="Arial Black" pitchFamily="34" charset="0"/>
                <a:ea typeface="Arial Black" pitchFamily="34" charset="-122"/>
                <a:cs typeface="Arial Black" pitchFamily="34" charset="-120"/>
              </a:rPr>
              <a:t>🧠 Design Experiments</a:t>
            </a:r>
            <a:endParaRPr lang="en-US" sz="1100" dirty="0"/>
          </a:p>
        </p:txBody>
      </p:sp>
      <p:sp>
        <p:nvSpPr>
          <p:cNvPr id="12" name="Text 10"/>
          <p:cNvSpPr/>
          <p:nvPr/>
        </p:nvSpPr>
        <p:spPr>
          <a:xfrm>
            <a:off x="6446520" y="1572768"/>
            <a:ext cx="1600200" cy="50292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Based on past results</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pick next best test</a:t>
            </a:r>
            <a:endParaRPr lang="en-US" sz="950" dirty="0"/>
          </a:p>
        </p:txBody>
      </p:sp>
      <p:sp>
        <p:nvSpPr>
          <p:cNvPr id="13" name="Shape 11"/>
          <p:cNvSpPr/>
          <p:nvPr/>
        </p:nvSpPr>
        <p:spPr>
          <a:xfrm>
            <a:off x="6355080" y="3840480"/>
            <a:ext cx="1737360" cy="100584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4" name="Shape 12"/>
          <p:cNvSpPr/>
          <p:nvPr/>
        </p:nvSpPr>
        <p:spPr>
          <a:xfrm>
            <a:off x="6355080" y="3840480"/>
            <a:ext cx="50292" cy="1005840"/>
          </a:xfrm>
          <a:prstGeom prst="rect">
            <a:avLst/>
          </a:prstGeom>
          <a:solidFill>
            <a:srgbClr val="22C55E"/>
          </a:solidFill>
          <a:ln/>
        </p:spPr>
      </p:sp>
      <p:sp>
        <p:nvSpPr>
          <p:cNvPr id="15" name="Text 13"/>
          <p:cNvSpPr/>
          <p:nvPr/>
        </p:nvSpPr>
        <p:spPr>
          <a:xfrm>
            <a:off x="6446520" y="3895344"/>
            <a:ext cx="1600200" cy="347472"/>
          </a:xfrm>
          <a:prstGeom prst="rect">
            <a:avLst/>
          </a:prstGeom>
          <a:noFill/>
          <a:ln/>
        </p:spPr>
        <p:txBody>
          <a:bodyPr wrap="square" lIns="0" tIns="0" rIns="0" bIns="0" rtlCol="0" anchor="ctr"/>
          <a:lstStyle/>
          <a:p>
            <a:pPr indent="0" marL="0">
              <a:buNone/>
            </a:pPr>
            <a:r>
              <a:rPr lang="en-US" sz="1100" b="1" dirty="0">
                <a:solidFill>
                  <a:srgbClr val="FFFFFF"/>
                </a:solidFill>
                <a:latin typeface="Arial Black" pitchFamily="34" charset="0"/>
                <a:ea typeface="Arial Black" pitchFamily="34" charset="-122"/>
                <a:cs typeface="Arial Black" pitchFamily="34" charset="-120"/>
              </a:rPr>
              <a:t>🔬 Run &amp; Evaluate</a:t>
            </a:r>
            <a:endParaRPr lang="en-US" sz="1100" dirty="0"/>
          </a:p>
        </p:txBody>
      </p:sp>
      <p:sp>
        <p:nvSpPr>
          <p:cNvPr id="16" name="Text 14"/>
          <p:cNvSpPr/>
          <p:nvPr/>
        </p:nvSpPr>
        <p:spPr>
          <a:xfrm>
            <a:off x="6446520" y="4270248"/>
            <a:ext cx="1600200" cy="50292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TimeSeriesSplit CV</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log loss + accuracy</a:t>
            </a:r>
            <a:endParaRPr lang="en-US" sz="950" dirty="0"/>
          </a:p>
        </p:txBody>
      </p:sp>
      <p:sp>
        <p:nvSpPr>
          <p:cNvPr id="17" name="Shape 15"/>
          <p:cNvSpPr/>
          <p:nvPr/>
        </p:nvSpPr>
        <p:spPr>
          <a:xfrm>
            <a:off x="1005840" y="3840480"/>
            <a:ext cx="1737360" cy="100584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8" name="Shape 16"/>
          <p:cNvSpPr/>
          <p:nvPr/>
        </p:nvSpPr>
        <p:spPr>
          <a:xfrm>
            <a:off x="1005840" y="3840480"/>
            <a:ext cx="50292" cy="1005840"/>
          </a:xfrm>
          <a:prstGeom prst="rect">
            <a:avLst/>
          </a:prstGeom>
          <a:solidFill>
            <a:srgbClr val="F59E0B"/>
          </a:solidFill>
          <a:ln/>
        </p:spPr>
      </p:sp>
      <p:sp>
        <p:nvSpPr>
          <p:cNvPr id="19" name="Text 17"/>
          <p:cNvSpPr/>
          <p:nvPr/>
        </p:nvSpPr>
        <p:spPr>
          <a:xfrm>
            <a:off x="1097280" y="3895344"/>
            <a:ext cx="1600200" cy="347472"/>
          </a:xfrm>
          <a:prstGeom prst="rect">
            <a:avLst/>
          </a:prstGeom>
          <a:noFill/>
          <a:ln/>
        </p:spPr>
        <p:txBody>
          <a:bodyPr wrap="square" lIns="0" tIns="0" rIns="0" bIns="0" rtlCol="0" anchor="ctr"/>
          <a:lstStyle/>
          <a:p>
            <a:pPr indent="0" marL="0">
              <a:buNone/>
            </a:pPr>
            <a:r>
              <a:rPr lang="en-US" sz="1100" b="1" dirty="0">
                <a:solidFill>
                  <a:srgbClr val="FFFFFF"/>
                </a:solidFill>
                <a:latin typeface="Arial Black" pitchFamily="34" charset="0"/>
                <a:ea typeface="Arial Black" pitchFamily="34" charset="-122"/>
                <a:cs typeface="Arial Black" pitchFamily="34" charset="-120"/>
              </a:rPr>
              <a:t>✍️ Write Back Findings</a:t>
            </a:r>
            <a:endParaRPr lang="en-US" sz="1100" dirty="0"/>
          </a:p>
        </p:txBody>
      </p:sp>
      <p:sp>
        <p:nvSpPr>
          <p:cNvPr id="20" name="Text 18"/>
          <p:cNvSpPr/>
          <p:nvPr/>
        </p:nvSpPr>
        <p:spPr>
          <a:xfrm>
            <a:off x="1097280" y="4270248"/>
            <a:ext cx="1600200" cy="50292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Persist insights</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for next iteration</a:t>
            </a:r>
            <a:endParaRPr lang="en-US" sz="950" dirty="0"/>
          </a:p>
        </p:txBody>
      </p:sp>
      <p:sp>
        <p:nvSpPr>
          <p:cNvPr id="21" name="Shape 19"/>
          <p:cNvSpPr/>
          <p:nvPr/>
        </p:nvSpPr>
        <p:spPr>
          <a:xfrm>
            <a:off x="2542032" y="2011680"/>
            <a:ext cx="3127248" cy="36576"/>
          </a:xfrm>
          <a:prstGeom prst="rect">
            <a:avLst/>
          </a:prstGeom>
          <a:solidFill>
            <a:srgbClr val="475569"/>
          </a:solidFill>
          <a:ln/>
        </p:spPr>
      </p:sp>
      <p:sp>
        <p:nvSpPr>
          <p:cNvPr id="22" name="Shape 20"/>
          <p:cNvSpPr/>
          <p:nvPr/>
        </p:nvSpPr>
        <p:spPr>
          <a:xfrm>
            <a:off x="7488936" y="2039112"/>
            <a:ext cx="36576" cy="1801368"/>
          </a:xfrm>
          <a:prstGeom prst="rect">
            <a:avLst/>
          </a:prstGeom>
          <a:solidFill>
            <a:srgbClr val="475569"/>
          </a:solidFill>
          <a:ln/>
        </p:spPr>
      </p:sp>
      <p:sp>
        <p:nvSpPr>
          <p:cNvPr id="23" name="Shape 21"/>
          <p:cNvSpPr/>
          <p:nvPr/>
        </p:nvSpPr>
        <p:spPr>
          <a:xfrm>
            <a:off x="2542032" y="3831336"/>
            <a:ext cx="3127248" cy="36576"/>
          </a:xfrm>
          <a:prstGeom prst="rect">
            <a:avLst/>
          </a:prstGeom>
          <a:solidFill>
            <a:srgbClr val="475569"/>
          </a:solidFill>
          <a:ln/>
        </p:spPr>
      </p:sp>
      <p:sp>
        <p:nvSpPr>
          <p:cNvPr id="24" name="Shape 22"/>
          <p:cNvSpPr/>
          <p:nvPr/>
        </p:nvSpPr>
        <p:spPr>
          <a:xfrm>
            <a:off x="749808" y="2039112"/>
            <a:ext cx="36576" cy="1801368"/>
          </a:xfrm>
          <a:prstGeom prst="rect">
            <a:avLst/>
          </a:prstGeom>
          <a:solidFill>
            <a:srgbClr val="475569"/>
          </a:solidFill>
          <a:ln/>
        </p:spPr>
      </p:sp>
      <p:sp>
        <p:nvSpPr>
          <p:cNvPr id="25" name="Shape 23"/>
          <p:cNvSpPr/>
          <p:nvPr/>
        </p:nvSpPr>
        <p:spPr>
          <a:xfrm>
            <a:off x="3931920" y="2377440"/>
            <a:ext cx="1280160" cy="1280160"/>
          </a:xfrm>
          <a:prstGeom prst="ellipse">
            <a:avLst/>
          </a:prstGeom>
          <a:solidFill>
            <a:srgbClr val="1E293B"/>
          </a:solidFill>
          <a:ln/>
        </p:spPr>
      </p:sp>
      <p:sp>
        <p:nvSpPr>
          <p:cNvPr id="26" name="Text 24"/>
          <p:cNvSpPr/>
          <p:nvPr/>
        </p:nvSpPr>
        <p:spPr>
          <a:xfrm>
            <a:off x="3977640" y="2788920"/>
            <a:ext cx="1188720" cy="457200"/>
          </a:xfrm>
          <a:prstGeom prst="rect">
            <a:avLst/>
          </a:prstGeom>
          <a:noFill/>
          <a:ln/>
        </p:spPr>
        <p:txBody>
          <a:bodyPr wrap="square" lIns="0" tIns="0" rIns="0" bIns="0" rtlCol="0" anchor="ctr"/>
          <a:lstStyle/>
          <a:p>
            <a:pPr algn="ctr" indent="0" marL="0">
              <a:buNone/>
            </a:pPr>
            <a:r>
              <a:rPr lang="en-US" sz="1300" b="1" dirty="0">
                <a:solidFill>
                  <a:srgbClr val="E85D04"/>
                </a:solidFill>
                <a:latin typeface="Arial Black" pitchFamily="34" charset="0"/>
                <a:ea typeface="Arial Black" pitchFamily="34" charset="-122"/>
                <a:cs typeface="Arial Black" pitchFamily="34" charset="-120"/>
              </a:rPr>
              <a:t>LOOP</a:t>
            </a:r>
            <a:endParaRPr lang="en-US" sz="1300" dirty="0"/>
          </a:p>
        </p:txBody>
      </p:sp>
      <p:sp>
        <p:nvSpPr>
          <p:cNvPr id="27" name="Text 25"/>
          <p:cNvSpPr/>
          <p:nvPr/>
        </p:nvSpPr>
        <p:spPr>
          <a:xfrm>
            <a:off x="320040" y="4572000"/>
            <a:ext cx="1188720" cy="347472"/>
          </a:xfrm>
          <a:prstGeom prst="rect">
            <a:avLst/>
          </a:prstGeom>
          <a:noFill/>
          <a:ln/>
        </p:spPr>
        <p:txBody>
          <a:bodyPr wrap="square" lIns="0" tIns="0" rIns="0" bIns="0" rtlCol="0" anchor="ctr"/>
          <a:lstStyle/>
          <a:p>
            <a:pPr algn="ctr" indent="0" marL="0">
              <a:buNone/>
            </a:pPr>
            <a:r>
              <a:rPr lang="en-US" sz="2200" b="1" dirty="0">
                <a:solidFill>
                  <a:srgbClr val="E85D04"/>
                </a:solidFill>
                <a:latin typeface="Arial Black" pitchFamily="34" charset="0"/>
                <a:ea typeface="Arial Black" pitchFamily="34" charset="-122"/>
                <a:cs typeface="Arial Black" pitchFamily="34" charset="-120"/>
              </a:rPr>
              <a:t>10</a:t>
            </a:r>
            <a:endParaRPr lang="en-US" sz="2200" dirty="0"/>
          </a:p>
        </p:txBody>
      </p:sp>
      <p:sp>
        <p:nvSpPr>
          <p:cNvPr id="28" name="Text 26"/>
          <p:cNvSpPr/>
          <p:nvPr/>
        </p:nvSpPr>
        <p:spPr>
          <a:xfrm>
            <a:off x="320040" y="4901184"/>
            <a:ext cx="118872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Iterations</a:t>
            </a:r>
            <a:endParaRPr lang="en-US" sz="900" dirty="0"/>
          </a:p>
        </p:txBody>
      </p:sp>
      <p:sp>
        <p:nvSpPr>
          <p:cNvPr id="29" name="Text 27"/>
          <p:cNvSpPr/>
          <p:nvPr/>
        </p:nvSpPr>
        <p:spPr>
          <a:xfrm>
            <a:off x="1645920" y="4572000"/>
            <a:ext cx="1188720" cy="347472"/>
          </a:xfrm>
          <a:prstGeom prst="rect">
            <a:avLst/>
          </a:prstGeom>
          <a:noFill/>
          <a:ln/>
        </p:spPr>
        <p:txBody>
          <a:bodyPr wrap="square" lIns="0" tIns="0" rIns="0" bIns="0" rtlCol="0" anchor="ctr"/>
          <a:lstStyle/>
          <a:p>
            <a:pPr algn="ctr" indent="0" marL="0">
              <a:buNone/>
            </a:pPr>
            <a:r>
              <a:rPr lang="en-US" sz="2200" b="1" dirty="0">
                <a:solidFill>
                  <a:srgbClr val="E85D04"/>
                </a:solidFill>
                <a:latin typeface="Arial Black" pitchFamily="34" charset="0"/>
                <a:ea typeface="Arial Black" pitchFamily="34" charset="-122"/>
                <a:cs typeface="Arial Black" pitchFamily="34" charset="-120"/>
              </a:rPr>
              <a:t>47</a:t>
            </a:r>
            <a:endParaRPr lang="en-US" sz="2200" dirty="0"/>
          </a:p>
        </p:txBody>
      </p:sp>
      <p:sp>
        <p:nvSpPr>
          <p:cNvPr id="30" name="Text 28"/>
          <p:cNvSpPr/>
          <p:nvPr/>
        </p:nvSpPr>
        <p:spPr>
          <a:xfrm>
            <a:off x="1645920" y="4901184"/>
            <a:ext cx="118872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Experiments</a:t>
            </a:r>
            <a:endParaRPr lang="en-US" sz="900" dirty="0"/>
          </a:p>
        </p:txBody>
      </p:sp>
      <p:sp>
        <p:nvSpPr>
          <p:cNvPr id="31" name="Text 29"/>
          <p:cNvSpPr/>
          <p:nvPr/>
        </p:nvSpPr>
        <p:spPr>
          <a:xfrm>
            <a:off x="2971800" y="4572000"/>
            <a:ext cx="1188720" cy="347472"/>
          </a:xfrm>
          <a:prstGeom prst="rect">
            <a:avLst/>
          </a:prstGeom>
          <a:noFill/>
          <a:ln/>
        </p:spPr>
        <p:txBody>
          <a:bodyPr wrap="square" lIns="0" tIns="0" rIns="0" bIns="0" rtlCol="0" anchor="ctr"/>
          <a:lstStyle/>
          <a:p>
            <a:pPr algn="ctr" indent="0" marL="0">
              <a:buNone/>
            </a:pPr>
            <a:r>
              <a:rPr lang="en-US" sz="2200" b="1" dirty="0">
                <a:solidFill>
                  <a:srgbClr val="E85D04"/>
                </a:solidFill>
                <a:latin typeface="Arial Black" pitchFamily="34" charset="0"/>
                <a:ea typeface="Arial Black" pitchFamily="34" charset="-122"/>
                <a:cs typeface="Arial Black" pitchFamily="34" charset="-120"/>
              </a:rPr>
              <a:t>$0.50</a:t>
            </a:r>
            <a:endParaRPr lang="en-US" sz="2200" dirty="0"/>
          </a:p>
        </p:txBody>
      </p:sp>
      <p:sp>
        <p:nvSpPr>
          <p:cNvPr id="32" name="Text 30"/>
          <p:cNvSpPr/>
          <p:nvPr/>
        </p:nvSpPr>
        <p:spPr>
          <a:xfrm>
            <a:off x="2971800" y="4901184"/>
            <a:ext cx="118872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Avg cost each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Results</a:t>
            </a:r>
            <a:endParaRPr lang="en-US" sz="2600" dirty="0"/>
          </a:p>
        </p:txBody>
      </p:sp>
      <p:sp>
        <p:nvSpPr>
          <p:cNvPr id="3" name="Shape 1"/>
          <p:cNvSpPr/>
          <p:nvPr/>
        </p:nvSpPr>
        <p:spPr>
          <a:xfrm>
            <a:off x="457200" y="868680"/>
            <a:ext cx="1097280" cy="50292"/>
          </a:xfrm>
          <a:prstGeom prst="rect">
            <a:avLst/>
          </a:prstGeom>
          <a:solidFill>
            <a:srgbClr val="E85D04"/>
          </a:solidFill>
          <a:ln/>
        </p:spPr>
      </p:sp>
      <p:sp>
        <p:nvSpPr>
          <p:cNvPr id="4" name="Text 2"/>
          <p:cNvSpPr/>
          <p:nvPr/>
        </p:nvSpPr>
        <p:spPr>
          <a:xfrm>
            <a:off x="457200" y="914400"/>
            <a:ext cx="82296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47 experiments across 10 autonomous iterations</a:t>
            </a:r>
            <a:endParaRPr lang="en-US" sz="1300" dirty="0"/>
          </a:p>
        </p:txBody>
      </p:sp>
      <p:graphicFrame>
        <p:nvGraphicFramePr>
          <p:cNvPr id="5" name="Chart 0" descr=""/>
          <p:cNvGraphicFramePr/>
          <p:nvPr/>
        </p:nvGraphicFramePr>
        <p:xfrm>
          <a:off x="320040" y="128016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806440" y="1280160"/>
            <a:ext cx="3063240" cy="74980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7" name="Shape 4"/>
          <p:cNvSpPr/>
          <p:nvPr/>
        </p:nvSpPr>
        <p:spPr>
          <a:xfrm>
            <a:off x="5806440" y="1280160"/>
            <a:ext cx="50292" cy="749808"/>
          </a:xfrm>
          <a:prstGeom prst="rect">
            <a:avLst/>
          </a:prstGeom>
          <a:solidFill>
            <a:srgbClr val="22C55E"/>
          </a:solidFill>
          <a:ln/>
        </p:spPr>
      </p:sp>
      <p:sp>
        <p:nvSpPr>
          <p:cNvPr id="8" name="Text 5"/>
          <p:cNvSpPr/>
          <p:nvPr/>
        </p:nvSpPr>
        <p:spPr>
          <a:xfrm>
            <a:off x="5943600" y="1325880"/>
            <a:ext cx="1005840" cy="457200"/>
          </a:xfrm>
          <a:prstGeom prst="rect">
            <a:avLst/>
          </a:prstGeom>
          <a:noFill/>
          <a:ln/>
        </p:spPr>
        <p:txBody>
          <a:bodyPr wrap="square" lIns="0" tIns="0" rIns="0" bIns="0" rtlCol="0" anchor="ctr"/>
          <a:lstStyle/>
          <a:p>
            <a:pPr indent="0" marL="0">
              <a:buNone/>
            </a:pPr>
            <a:r>
              <a:rPr lang="en-US" sz="2600" b="1" dirty="0">
                <a:solidFill>
                  <a:srgbClr val="22C55E"/>
                </a:solidFill>
                <a:latin typeface="Arial Black" pitchFamily="34" charset="0"/>
                <a:ea typeface="Arial Black" pitchFamily="34" charset="-122"/>
                <a:cs typeface="Arial Black" pitchFamily="34" charset="-120"/>
              </a:rPr>
              <a:t>11%</a:t>
            </a:r>
            <a:endParaRPr lang="en-US" sz="2600" dirty="0"/>
          </a:p>
        </p:txBody>
      </p:sp>
      <p:sp>
        <p:nvSpPr>
          <p:cNvPr id="9" name="Text 6"/>
          <p:cNvSpPr/>
          <p:nvPr/>
        </p:nvSpPr>
        <p:spPr>
          <a:xfrm>
            <a:off x="6995160" y="1335024"/>
            <a:ext cx="178308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Better than random</a:t>
            </a:r>
            <a:endParaRPr lang="en-US" sz="1100" dirty="0"/>
          </a:p>
        </p:txBody>
      </p:sp>
      <p:sp>
        <p:nvSpPr>
          <p:cNvPr id="10" name="Text 7"/>
          <p:cNvSpPr/>
          <p:nvPr/>
        </p:nvSpPr>
        <p:spPr>
          <a:xfrm>
            <a:off x="6995160" y="1627632"/>
            <a:ext cx="178308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0.693 → 0.6161 log loss</a:t>
            </a:r>
            <a:endParaRPr lang="en-US" sz="950" dirty="0"/>
          </a:p>
        </p:txBody>
      </p:sp>
      <p:sp>
        <p:nvSpPr>
          <p:cNvPr id="11" name="Shape 8"/>
          <p:cNvSpPr/>
          <p:nvPr/>
        </p:nvSpPr>
        <p:spPr>
          <a:xfrm>
            <a:off x="5806440" y="2148840"/>
            <a:ext cx="3063240" cy="74980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2" name="Shape 9"/>
          <p:cNvSpPr/>
          <p:nvPr/>
        </p:nvSpPr>
        <p:spPr>
          <a:xfrm>
            <a:off x="5806440" y="2148840"/>
            <a:ext cx="50292" cy="749808"/>
          </a:xfrm>
          <a:prstGeom prst="rect">
            <a:avLst/>
          </a:prstGeom>
          <a:solidFill>
            <a:srgbClr val="E85D04"/>
          </a:solidFill>
          <a:ln/>
        </p:spPr>
      </p:sp>
      <p:sp>
        <p:nvSpPr>
          <p:cNvPr id="13" name="Text 10"/>
          <p:cNvSpPr/>
          <p:nvPr/>
        </p:nvSpPr>
        <p:spPr>
          <a:xfrm>
            <a:off x="5943600" y="2194560"/>
            <a:ext cx="1005840" cy="457200"/>
          </a:xfrm>
          <a:prstGeom prst="rect">
            <a:avLst/>
          </a:prstGeom>
          <a:noFill/>
          <a:ln/>
        </p:spPr>
        <p:txBody>
          <a:bodyPr wrap="square" lIns="0" tIns="0" rIns="0" bIns="0" rtlCol="0" anchor="ctr"/>
          <a:lstStyle/>
          <a:p>
            <a:pPr indent="0" marL="0">
              <a:buNone/>
            </a:pPr>
            <a:r>
              <a:rPr lang="en-US" sz="2600" b="1" dirty="0">
                <a:solidFill>
                  <a:srgbClr val="E85D04"/>
                </a:solidFill>
                <a:latin typeface="Arial Black" pitchFamily="34" charset="0"/>
                <a:ea typeface="Arial Black" pitchFamily="34" charset="-122"/>
                <a:cs typeface="Arial Black" pitchFamily="34" charset="-120"/>
              </a:rPr>
              <a:t>65.8%</a:t>
            </a:r>
            <a:endParaRPr lang="en-US" sz="2600" dirty="0"/>
          </a:p>
        </p:txBody>
      </p:sp>
      <p:sp>
        <p:nvSpPr>
          <p:cNvPr id="14" name="Text 11"/>
          <p:cNvSpPr/>
          <p:nvPr/>
        </p:nvSpPr>
        <p:spPr>
          <a:xfrm>
            <a:off x="6995160" y="2203704"/>
            <a:ext cx="178308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Win prediction accuracy</a:t>
            </a:r>
            <a:endParaRPr lang="en-US" sz="1100" dirty="0"/>
          </a:p>
        </p:txBody>
      </p:sp>
      <p:sp>
        <p:nvSpPr>
          <p:cNvPr id="15" name="Text 12"/>
          <p:cNvSpPr/>
          <p:nvPr/>
        </p:nvSpPr>
        <p:spPr>
          <a:xfrm>
            <a:off x="6995160" y="2496312"/>
            <a:ext cx="178308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vs ~60% theoretical max</a:t>
            </a:r>
            <a:endParaRPr lang="en-US" sz="950" dirty="0"/>
          </a:p>
        </p:txBody>
      </p:sp>
      <p:sp>
        <p:nvSpPr>
          <p:cNvPr id="16" name="Shape 13"/>
          <p:cNvSpPr/>
          <p:nvPr/>
        </p:nvSpPr>
        <p:spPr>
          <a:xfrm>
            <a:off x="5806440" y="3017520"/>
            <a:ext cx="3063240" cy="74980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7" name="Shape 14"/>
          <p:cNvSpPr/>
          <p:nvPr/>
        </p:nvSpPr>
        <p:spPr>
          <a:xfrm>
            <a:off x="5806440" y="3017520"/>
            <a:ext cx="50292" cy="749808"/>
          </a:xfrm>
          <a:prstGeom prst="rect">
            <a:avLst/>
          </a:prstGeom>
          <a:solidFill>
            <a:srgbClr val="0EA5E9"/>
          </a:solidFill>
          <a:ln/>
        </p:spPr>
      </p:sp>
      <p:sp>
        <p:nvSpPr>
          <p:cNvPr id="18" name="Text 15"/>
          <p:cNvSpPr/>
          <p:nvPr/>
        </p:nvSpPr>
        <p:spPr>
          <a:xfrm>
            <a:off x="5943600" y="3063240"/>
            <a:ext cx="1005840" cy="457200"/>
          </a:xfrm>
          <a:prstGeom prst="rect">
            <a:avLst/>
          </a:prstGeom>
          <a:noFill/>
          <a:ln/>
        </p:spPr>
        <p:txBody>
          <a:bodyPr wrap="square" lIns="0" tIns="0" rIns="0" bIns="0" rtlCol="0" anchor="ctr"/>
          <a:lstStyle/>
          <a:p>
            <a:pPr indent="0" marL="0">
              <a:buNone/>
            </a:pPr>
            <a:r>
              <a:rPr lang="en-US" sz="2600" b="1" dirty="0">
                <a:solidFill>
                  <a:srgbClr val="0EA5E9"/>
                </a:solidFill>
                <a:latin typeface="Arial Black" pitchFamily="34" charset="0"/>
                <a:ea typeface="Arial Black" pitchFamily="34" charset="-122"/>
                <a:cs typeface="Arial Black" pitchFamily="34" charset="-120"/>
              </a:rPr>
              <a:t>47</a:t>
            </a:r>
            <a:endParaRPr lang="en-US" sz="2600" dirty="0"/>
          </a:p>
        </p:txBody>
      </p:sp>
      <p:sp>
        <p:nvSpPr>
          <p:cNvPr id="19" name="Text 16"/>
          <p:cNvSpPr/>
          <p:nvPr/>
        </p:nvSpPr>
        <p:spPr>
          <a:xfrm>
            <a:off x="6995160" y="3072384"/>
            <a:ext cx="178308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Experiments run</a:t>
            </a:r>
            <a:endParaRPr lang="en-US" sz="1100" dirty="0"/>
          </a:p>
        </p:txBody>
      </p:sp>
      <p:sp>
        <p:nvSpPr>
          <p:cNvPr id="20" name="Text 17"/>
          <p:cNvSpPr/>
          <p:nvPr/>
        </p:nvSpPr>
        <p:spPr>
          <a:xfrm>
            <a:off x="6995160" y="3364992"/>
            <a:ext cx="178308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100% autonomous</a:t>
            </a:r>
            <a:endParaRPr lang="en-US" sz="950" dirty="0"/>
          </a:p>
        </p:txBody>
      </p:sp>
      <p:sp>
        <p:nvSpPr>
          <p:cNvPr id="21" name="Shape 18"/>
          <p:cNvSpPr/>
          <p:nvPr/>
        </p:nvSpPr>
        <p:spPr>
          <a:xfrm>
            <a:off x="5806440" y="3886200"/>
            <a:ext cx="3063240" cy="74980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22" name="Shape 19"/>
          <p:cNvSpPr/>
          <p:nvPr/>
        </p:nvSpPr>
        <p:spPr>
          <a:xfrm>
            <a:off x="5806440" y="3886200"/>
            <a:ext cx="50292" cy="749808"/>
          </a:xfrm>
          <a:prstGeom prst="rect">
            <a:avLst/>
          </a:prstGeom>
          <a:solidFill>
            <a:srgbClr val="F59E0B"/>
          </a:solidFill>
          <a:ln/>
        </p:spPr>
      </p:sp>
      <p:sp>
        <p:nvSpPr>
          <p:cNvPr id="23" name="Text 20"/>
          <p:cNvSpPr/>
          <p:nvPr/>
        </p:nvSpPr>
        <p:spPr>
          <a:xfrm>
            <a:off x="5943600" y="3931920"/>
            <a:ext cx="1005840" cy="457200"/>
          </a:xfrm>
          <a:prstGeom prst="rect">
            <a:avLst/>
          </a:prstGeom>
          <a:noFill/>
          <a:ln/>
        </p:spPr>
        <p:txBody>
          <a:bodyPr wrap="square" lIns="0" tIns="0" rIns="0" bIns="0" rtlCol="0" anchor="ctr"/>
          <a:lstStyle/>
          <a:p>
            <a:pPr indent="0" marL="0">
              <a:buNone/>
            </a:pPr>
            <a:r>
              <a:rPr lang="en-US" sz="2600" b="1" dirty="0">
                <a:solidFill>
                  <a:srgbClr val="F59E0B"/>
                </a:solidFill>
                <a:latin typeface="Arial Black" pitchFamily="34" charset="0"/>
                <a:ea typeface="Arial Black" pitchFamily="34" charset="-122"/>
                <a:cs typeface="Arial Black" pitchFamily="34" charset="-120"/>
              </a:rPr>
              <a:t>0</a:t>
            </a:r>
            <a:endParaRPr lang="en-US" sz="2600" dirty="0"/>
          </a:p>
        </p:txBody>
      </p:sp>
      <p:sp>
        <p:nvSpPr>
          <p:cNvPr id="24" name="Text 21"/>
          <p:cNvSpPr/>
          <p:nvPr/>
        </p:nvSpPr>
        <p:spPr>
          <a:xfrm>
            <a:off x="6995160" y="3941064"/>
            <a:ext cx="178308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Human interventions</a:t>
            </a:r>
            <a:endParaRPr lang="en-US" sz="1100" dirty="0"/>
          </a:p>
        </p:txBody>
      </p:sp>
      <p:sp>
        <p:nvSpPr>
          <p:cNvPr id="25" name="Text 22"/>
          <p:cNvSpPr/>
          <p:nvPr/>
        </p:nvSpPr>
        <p:spPr>
          <a:xfrm>
            <a:off x="6995160" y="4233672"/>
            <a:ext cx="178308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fully automated research</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The Key Insight</a:t>
            </a:r>
            <a:endParaRPr lang="en-US" sz="2600" dirty="0"/>
          </a:p>
        </p:txBody>
      </p:sp>
      <p:sp>
        <p:nvSpPr>
          <p:cNvPr id="3" name="Shape 1"/>
          <p:cNvSpPr/>
          <p:nvPr/>
        </p:nvSpPr>
        <p:spPr>
          <a:xfrm>
            <a:off x="457200" y="868680"/>
            <a:ext cx="1097280" cy="50292"/>
          </a:xfrm>
          <a:prstGeom prst="rect">
            <a:avLst/>
          </a:prstGeom>
          <a:solidFill>
            <a:srgbClr val="E85D04"/>
          </a:solidFill>
          <a:ln/>
        </p:spPr>
      </p:sp>
      <p:sp>
        <p:nvSpPr>
          <p:cNvPr id="4" name="Text 2"/>
          <p:cNvSpPr/>
          <p:nvPr/>
        </p:nvSpPr>
        <p:spPr>
          <a:xfrm>
            <a:off x="457200" y="914400"/>
            <a:ext cx="82296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After 47 experiments, simpler beats complex — every time</a:t>
            </a:r>
            <a:endParaRPr lang="en-US" sz="1300" dirty="0"/>
          </a:p>
        </p:txBody>
      </p:sp>
      <p:graphicFrame>
        <p:nvGraphicFramePr>
          <p:cNvPr id="5" name="Chart 0" descr=""/>
          <p:cNvGraphicFramePr/>
          <p:nvPr/>
        </p:nvGraphicFramePr>
        <p:xfrm>
          <a:off x="320040" y="1280160"/>
          <a:ext cx="5486400" cy="34290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943600" y="1280160"/>
            <a:ext cx="2926080" cy="105156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7" name="Shape 4"/>
          <p:cNvSpPr/>
          <p:nvPr/>
        </p:nvSpPr>
        <p:spPr>
          <a:xfrm>
            <a:off x="5943600" y="1280160"/>
            <a:ext cx="50292" cy="1051560"/>
          </a:xfrm>
          <a:prstGeom prst="rect">
            <a:avLst/>
          </a:prstGeom>
          <a:solidFill>
            <a:srgbClr val="E85D04"/>
          </a:solidFill>
          <a:ln/>
        </p:spPr>
      </p:sp>
      <p:sp>
        <p:nvSpPr>
          <p:cNvPr id="8" name="Text 5"/>
          <p:cNvSpPr/>
          <p:nvPr/>
        </p:nvSpPr>
        <p:spPr>
          <a:xfrm>
            <a:off x="6080760" y="1353312"/>
            <a:ext cx="2651760" cy="32004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 Ridge wins</a:t>
            </a:r>
            <a:endParaRPr lang="en-US" sz="1200" dirty="0"/>
          </a:p>
        </p:txBody>
      </p:sp>
      <p:sp>
        <p:nvSpPr>
          <p:cNvPr id="9" name="Text 6"/>
          <p:cNvSpPr/>
          <p:nvPr/>
        </p:nvSpPr>
        <p:spPr>
          <a:xfrm>
            <a:off x="6080760" y="1709928"/>
            <a:ext cx="2651760" cy="59436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L2 regularization (Ridge) beats L1 and standard LR. Strong regularization (C=0.01) is key — prevents overfitting on small NBA samples.</a:t>
            </a:r>
            <a:endParaRPr lang="en-US" sz="950" dirty="0"/>
          </a:p>
        </p:txBody>
      </p:sp>
      <p:sp>
        <p:nvSpPr>
          <p:cNvPr id="10" name="Shape 7"/>
          <p:cNvSpPr/>
          <p:nvPr/>
        </p:nvSpPr>
        <p:spPr>
          <a:xfrm>
            <a:off x="5943600" y="2450592"/>
            <a:ext cx="2926080" cy="105156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1" name="Shape 8"/>
          <p:cNvSpPr/>
          <p:nvPr/>
        </p:nvSpPr>
        <p:spPr>
          <a:xfrm>
            <a:off x="5943600" y="2450592"/>
            <a:ext cx="50292" cy="1051560"/>
          </a:xfrm>
          <a:prstGeom prst="rect">
            <a:avLst/>
          </a:prstGeom>
          <a:solidFill>
            <a:srgbClr val="8B5CF6"/>
          </a:solidFill>
          <a:ln/>
        </p:spPr>
      </p:sp>
      <p:sp>
        <p:nvSpPr>
          <p:cNvPr id="12" name="Text 9"/>
          <p:cNvSpPr/>
          <p:nvPr/>
        </p:nvSpPr>
        <p:spPr>
          <a:xfrm>
            <a:off x="6080760" y="2523744"/>
            <a:ext cx="2651760" cy="32004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 Linear signal</a:t>
            </a:r>
            <a:endParaRPr lang="en-US" sz="1200" dirty="0"/>
          </a:p>
        </p:txBody>
      </p:sp>
      <p:sp>
        <p:nvSpPr>
          <p:cNvPr id="13" name="Text 10"/>
          <p:cNvSpPr/>
          <p:nvPr/>
        </p:nvSpPr>
        <p:spPr>
          <a:xfrm>
            <a:off x="6080760" y="2880360"/>
            <a:ext cx="2651760" cy="59436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NBA game outcomes are fundamentally linear. Complex models (GB, XGBoost, NN) add noise, not signal. The relationship between features and outcome is near-linear.</a:t>
            </a:r>
            <a:endParaRPr lang="en-US" sz="950" dirty="0"/>
          </a:p>
        </p:txBody>
      </p:sp>
      <p:sp>
        <p:nvSpPr>
          <p:cNvPr id="14" name="Shape 11"/>
          <p:cNvSpPr/>
          <p:nvPr/>
        </p:nvSpPr>
        <p:spPr>
          <a:xfrm>
            <a:off x="5943600" y="3621024"/>
            <a:ext cx="2926080" cy="105156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5" name="Shape 12"/>
          <p:cNvSpPr/>
          <p:nvPr/>
        </p:nvSpPr>
        <p:spPr>
          <a:xfrm>
            <a:off x="5943600" y="3621024"/>
            <a:ext cx="50292" cy="1051560"/>
          </a:xfrm>
          <a:prstGeom prst="rect">
            <a:avLst/>
          </a:prstGeom>
          <a:solidFill>
            <a:srgbClr val="22C55E"/>
          </a:solidFill>
          <a:ln/>
        </p:spPr>
      </p:sp>
      <p:sp>
        <p:nvSpPr>
          <p:cNvPr id="16" name="Text 13"/>
          <p:cNvSpPr/>
          <p:nvPr/>
        </p:nvSpPr>
        <p:spPr>
          <a:xfrm>
            <a:off x="6080760" y="3694176"/>
            <a:ext cx="2651760" cy="32004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 14 features &gt; 69</a:t>
            </a:r>
            <a:endParaRPr lang="en-US" sz="1200" dirty="0"/>
          </a:p>
        </p:txBody>
      </p:sp>
      <p:sp>
        <p:nvSpPr>
          <p:cNvPr id="17" name="Text 14"/>
          <p:cNvSpPr/>
          <p:nvPr/>
        </p:nvSpPr>
        <p:spPr>
          <a:xfrm>
            <a:off x="6080760" y="4050792"/>
            <a:ext cx="2651760" cy="59436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Feature selection is critical. Using all 69 features hurts — the model learns noise. The top 14 features contain almost all the predictive information.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The Dashboard</a:t>
            </a:r>
            <a:endParaRPr lang="en-US" sz="2600" dirty="0"/>
          </a:p>
        </p:txBody>
      </p:sp>
      <p:sp>
        <p:nvSpPr>
          <p:cNvPr id="3" name="Shape 1"/>
          <p:cNvSpPr/>
          <p:nvPr/>
        </p:nvSpPr>
        <p:spPr>
          <a:xfrm>
            <a:off x="457200" y="868680"/>
            <a:ext cx="1097280" cy="50292"/>
          </a:xfrm>
          <a:prstGeom prst="rect">
            <a:avLst/>
          </a:prstGeom>
          <a:solidFill>
            <a:srgbClr val="E85D04"/>
          </a:solidFill>
          <a:ln/>
        </p:spPr>
      </p:sp>
      <p:sp>
        <p:nvSpPr>
          <p:cNvPr id="4" name="Text 2"/>
          <p:cNvSpPr/>
          <p:nvPr/>
        </p:nvSpPr>
        <p:spPr>
          <a:xfrm>
            <a:off x="457200" y="914400"/>
            <a:ext cx="82296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Flask web app to monitor, control, and customize the pipeline</a:t>
            </a:r>
            <a:endParaRPr lang="en-US" sz="1300" dirty="0"/>
          </a:p>
        </p:txBody>
      </p:sp>
      <p:sp>
        <p:nvSpPr>
          <p:cNvPr id="5" name="Shape 3"/>
          <p:cNvSpPr/>
          <p:nvPr/>
        </p:nvSpPr>
        <p:spPr>
          <a:xfrm>
            <a:off x="320040" y="1325880"/>
            <a:ext cx="2788920" cy="157276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6" name="Shape 4"/>
          <p:cNvSpPr/>
          <p:nvPr/>
        </p:nvSpPr>
        <p:spPr>
          <a:xfrm>
            <a:off x="320040" y="1325880"/>
            <a:ext cx="50292" cy="1572768"/>
          </a:xfrm>
          <a:prstGeom prst="rect">
            <a:avLst/>
          </a:prstGeom>
          <a:solidFill>
            <a:srgbClr val="0EA5E9"/>
          </a:solidFill>
          <a:ln/>
        </p:spPr>
      </p:sp>
      <p:sp>
        <p:nvSpPr>
          <p:cNvPr id="7" name="Text 5"/>
          <p:cNvSpPr/>
          <p:nvPr/>
        </p:nvSpPr>
        <p:spPr>
          <a:xfrm>
            <a:off x="411480" y="1417320"/>
            <a:ext cx="265176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  Live KPI Cards</a:t>
            </a:r>
            <a:endParaRPr lang="en-US" sz="1200" dirty="0"/>
          </a:p>
        </p:txBody>
      </p:sp>
      <p:sp>
        <p:nvSpPr>
          <p:cNvPr id="8" name="Text 6"/>
          <p:cNvSpPr/>
          <p:nvPr/>
        </p:nvSpPr>
        <p:spPr>
          <a:xfrm>
            <a:off x="411480" y="1801368"/>
            <a:ext cx="2651760" cy="100584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Best log loss, top accuracy, total experiments, and convergence rate — updated in real-time as the pipeline runs.</a:t>
            </a:r>
            <a:endParaRPr lang="en-US" sz="1000" dirty="0"/>
          </a:p>
        </p:txBody>
      </p:sp>
      <p:sp>
        <p:nvSpPr>
          <p:cNvPr id="9" name="Shape 7"/>
          <p:cNvSpPr/>
          <p:nvPr/>
        </p:nvSpPr>
        <p:spPr>
          <a:xfrm>
            <a:off x="3264408" y="1325880"/>
            <a:ext cx="2788920" cy="157276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0" name="Shape 8"/>
          <p:cNvSpPr/>
          <p:nvPr/>
        </p:nvSpPr>
        <p:spPr>
          <a:xfrm>
            <a:off x="3264408" y="1325880"/>
            <a:ext cx="50292" cy="1572768"/>
          </a:xfrm>
          <a:prstGeom prst="rect">
            <a:avLst/>
          </a:prstGeom>
          <a:solidFill>
            <a:srgbClr val="E85D04"/>
          </a:solidFill>
          <a:ln/>
        </p:spPr>
      </p:sp>
      <p:sp>
        <p:nvSpPr>
          <p:cNvPr id="11" name="Text 9"/>
          <p:cNvSpPr/>
          <p:nvPr/>
        </p:nvSpPr>
        <p:spPr>
          <a:xfrm>
            <a:off x="3355848" y="1417320"/>
            <a:ext cx="265176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  Convergence Chart</a:t>
            </a:r>
            <a:endParaRPr lang="en-US" sz="1200" dirty="0"/>
          </a:p>
        </p:txBody>
      </p:sp>
      <p:sp>
        <p:nvSpPr>
          <p:cNvPr id="12" name="Text 10"/>
          <p:cNvSpPr/>
          <p:nvPr/>
        </p:nvSpPr>
        <p:spPr>
          <a:xfrm>
            <a:off x="3355848" y="1801368"/>
            <a:ext cx="2651760" cy="100584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SVG chart showing log loss improvement across every experiment and iteration. Visualize the learning arc at a glance.</a:t>
            </a:r>
            <a:endParaRPr lang="en-US" sz="1000" dirty="0"/>
          </a:p>
        </p:txBody>
      </p:sp>
      <p:sp>
        <p:nvSpPr>
          <p:cNvPr id="13" name="Shape 11"/>
          <p:cNvSpPr/>
          <p:nvPr/>
        </p:nvSpPr>
        <p:spPr>
          <a:xfrm>
            <a:off x="6208776" y="1325880"/>
            <a:ext cx="2788920" cy="157276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4" name="Shape 12"/>
          <p:cNvSpPr/>
          <p:nvPr/>
        </p:nvSpPr>
        <p:spPr>
          <a:xfrm>
            <a:off x="6208776" y="1325880"/>
            <a:ext cx="50292" cy="1572768"/>
          </a:xfrm>
          <a:prstGeom prst="rect">
            <a:avLst/>
          </a:prstGeom>
          <a:solidFill>
            <a:srgbClr val="8B5CF6"/>
          </a:solidFill>
          <a:ln/>
        </p:spPr>
      </p:sp>
      <p:sp>
        <p:nvSpPr>
          <p:cNvPr id="15" name="Text 13"/>
          <p:cNvSpPr/>
          <p:nvPr/>
        </p:nvSpPr>
        <p:spPr>
          <a:xfrm>
            <a:off x="6300216" y="1417320"/>
            <a:ext cx="265176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  Agent Flow Diagram</a:t>
            </a:r>
            <a:endParaRPr lang="en-US" sz="1200" dirty="0"/>
          </a:p>
        </p:txBody>
      </p:sp>
      <p:sp>
        <p:nvSpPr>
          <p:cNvPr id="16" name="Text 14"/>
          <p:cNvSpPr/>
          <p:nvPr/>
        </p:nvSpPr>
        <p:spPr>
          <a:xfrm>
            <a:off x="6300216" y="1801368"/>
            <a:ext cx="2651760" cy="100584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Visual pipeline flow with all 5 agents. Click any agent to edit its system prompt directly — changes persist without touching code.</a:t>
            </a:r>
            <a:endParaRPr lang="en-US" sz="1000" dirty="0"/>
          </a:p>
        </p:txBody>
      </p:sp>
      <p:sp>
        <p:nvSpPr>
          <p:cNvPr id="17" name="Shape 15"/>
          <p:cNvSpPr/>
          <p:nvPr/>
        </p:nvSpPr>
        <p:spPr>
          <a:xfrm>
            <a:off x="320040" y="3063240"/>
            <a:ext cx="2788920" cy="157276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8" name="Shape 16"/>
          <p:cNvSpPr/>
          <p:nvPr/>
        </p:nvSpPr>
        <p:spPr>
          <a:xfrm>
            <a:off x="320040" y="3063240"/>
            <a:ext cx="50292" cy="1572768"/>
          </a:xfrm>
          <a:prstGeom prst="rect">
            <a:avLst/>
          </a:prstGeom>
          <a:solidFill>
            <a:srgbClr val="22C55E"/>
          </a:solidFill>
          <a:ln/>
        </p:spPr>
      </p:sp>
      <p:sp>
        <p:nvSpPr>
          <p:cNvPr id="19" name="Text 17"/>
          <p:cNvSpPr/>
          <p:nvPr/>
        </p:nvSpPr>
        <p:spPr>
          <a:xfrm>
            <a:off x="411480" y="3154680"/>
            <a:ext cx="265176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  One-Click Run</a:t>
            </a:r>
            <a:endParaRPr lang="en-US" sz="1200" dirty="0"/>
          </a:p>
        </p:txBody>
      </p:sp>
      <p:sp>
        <p:nvSpPr>
          <p:cNvPr id="20" name="Text 18"/>
          <p:cNvSpPr/>
          <p:nvPr/>
        </p:nvSpPr>
        <p:spPr>
          <a:xfrm>
            <a:off x="411480" y="3538728"/>
            <a:ext cx="2651760" cy="100584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'Run New Iteration' (skip data) or 'Fetch Data &amp; Run' (full pipeline with data refresh). Live log streaming in browser.</a:t>
            </a:r>
            <a:endParaRPr lang="en-US" sz="1000" dirty="0"/>
          </a:p>
        </p:txBody>
      </p:sp>
      <p:sp>
        <p:nvSpPr>
          <p:cNvPr id="21" name="Shape 19"/>
          <p:cNvSpPr/>
          <p:nvPr/>
        </p:nvSpPr>
        <p:spPr>
          <a:xfrm>
            <a:off x="3264408" y="3063240"/>
            <a:ext cx="2788920" cy="157276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22" name="Shape 20"/>
          <p:cNvSpPr/>
          <p:nvPr/>
        </p:nvSpPr>
        <p:spPr>
          <a:xfrm>
            <a:off x="3264408" y="3063240"/>
            <a:ext cx="50292" cy="1572768"/>
          </a:xfrm>
          <a:prstGeom prst="rect">
            <a:avLst/>
          </a:prstGeom>
          <a:solidFill>
            <a:srgbClr val="F59E0B"/>
          </a:solidFill>
          <a:ln/>
        </p:spPr>
      </p:sp>
      <p:sp>
        <p:nvSpPr>
          <p:cNvPr id="23" name="Text 21"/>
          <p:cNvSpPr/>
          <p:nvPr/>
        </p:nvSpPr>
        <p:spPr>
          <a:xfrm>
            <a:off x="3355848" y="3154680"/>
            <a:ext cx="265176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  HTML Reports</a:t>
            </a:r>
            <a:endParaRPr lang="en-US" sz="1200" dirty="0"/>
          </a:p>
        </p:txBody>
      </p:sp>
      <p:sp>
        <p:nvSpPr>
          <p:cNvPr id="24" name="Text 22"/>
          <p:cNvSpPr/>
          <p:nvPr/>
        </p:nvSpPr>
        <p:spPr>
          <a:xfrm>
            <a:off x="3355848" y="3538728"/>
            <a:ext cx="2651760" cy="100584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Each pipeline run generates a rich HTML report with betting edges, calibration analysis, and upcoming game predictions.</a:t>
            </a:r>
            <a:endParaRPr lang="en-US" sz="1000" dirty="0"/>
          </a:p>
        </p:txBody>
      </p:sp>
      <p:sp>
        <p:nvSpPr>
          <p:cNvPr id="25" name="Shape 23"/>
          <p:cNvSpPr/>
          <p:nvPr/>
        </p:nvSpPr>
        <p:spPr>
          <a:xfrm>
            <a:off x="6208776" y="3063240"/>
            <a:ext cx="2788920" cy="157276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26" name="Shape 24"/>
          <p:cNvSpPr/>
          <p:nvPr/>
        </p:nvSpPr>
        <p:spPr>
          <a:xfrm>
            <a:off x="6208776" y="3063240"/>
            <a:ext cx="50292" cy="1572768"/>
          </a:xfrm>
          <a:prstGeom prst="rect">
            <a:avLst/>
          </a:prstGeom>
          <a:solidFill>
            <a:srgbClr val="EC4899"/>
          </a:solidFill>
          <a:ln/>
        </p:spPr>
      </p:sp>
      <p:sp>
        <p:nvSpPr>
          <p:cNvPr id="27" name="Text 25"/>
          <p:cNvSpPr/>
          <p:nvPr/>
        </p:nvSpPr>
        <p:spPr>
          <a:xfrm>
            <a:off x="6300216" y="3154680"/>
            <a:ext cx="265176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  Prompt Overrides</a:t>
            </a:r>
            <a:endParaRPr lang="en-US" sz="1200" dirty="0"/>
          </a:p>
        </p:txBody>
      </p:sp>
      <p:sp>
        <p:nvSpPr>
          <p:cNvPr id="28" name="Text 26"/>
          <p:cNvSpPr/>
          <p:nvPr/>
        </p:nvSpPr>
        <p:spPr>
          <a:xfrm>
            <a:off x="6300216" y="3538728"/>
            <a:ext cx="2651760" cy="100584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Per-agent prompt editing with save/reset. Stored in prompt_overrides.json — no source file changes needed.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Tech Stack</a:t>
            </a:r>
            <a:endParaRPr lang="en-US" sz="2600" dirty="0"/>
          </a:p>
        </p:txBody>
      </p:sp>
      <p:sp>
        <p:nvSpPr>
          <p:cNvPr id="3" name="Shape 1"/>
          <p:cNvSpPr/>
          <p:nvPr/>
        </p:nvSpPr>
        <p:spPr>
          <a:xfrm>
            <a:off x="457200" y="868680"/>
            <a:ext cx="1097280" cy="50292"/>
          </a:xfrm>
          <a:prstGeom prst="rect">
            <a:avLst/>
          </a:prstGeom>
          <a:solidFill>
            <a:srgbClr val="E85D04"/>
          </a:solidFill>
          <a:ln/>
        </p:spPr>
      </p:sp>
      <p:sp>
        <p:nvSpPr>
          <p:cNvPr id="4" name="Text 2"/>
          <p:cNvSpPr/>
          <p:nvPr/>
        </p:nvSpPr>
        <p:spPr>
          <a:xfrm>
            <a:off x="457200" y="914400"/>
            <a:ext cx="82296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Open-source, lightweight, and production-ready</a:t>
            </a:r>
            <a:endParaRPr lang="en-US" sz="1300" dirty="0"/>
          </a:p>
        </p:txBody>
      </p:sp>
      <p:sp>
        <p:nvSpPr>
          <p:cNvPr id="5" name="Shape 3"/>
          <p:cNvSpPr/>
          <p:nvPr/>
        </p:nvSpPr>
        <p:spPr>
          <a:xfrm>
            <a:off x="320040" y="1325880"/>
            <a:ext cx="2788920" cy="356616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6" name="Shape 4"/>
          <p:cNvSpPr/>
          <p:nvPr/>
        </p:nvSpPr>
        <p:spPr>
          <a:xfrm>
            <a:off x="320040" y="1325880"/>
            <a:ext cx="50292" cy="3566160"/>
          </a:xfrm>
          <a:prstGeom prst="rect">
            <a:avLst/>
          </a:prstGeom>
          <a:solidFill>
            <a:srgbClr val="E85D04"/>
          </a:solidFill>
          <a:ln/>
        </p:spPr>
      </p:sp>
      <p:sp>
        <p:nvSpPr>
          <p:cNvPr id="7" name="Shape 5"/>
          <p:cNvSpPr/>
          <p:nvPr/>
        </p:nvSpPr>
        <p:spPr>
          <a:xfrm>
            <a:off x="320040" y="1325880"/>
            <a:ext cx="2788920" cy="438912"/>
          </a:xfrm>
          <a:prstGeom prst="rect">
            <a:avLst/>
          </a:prstGeom>
          <a:solidFill>
            <a:srgbClr val="E85D04"/>
          </a:solidFill>
          <a:ln/>
        </p:spPr>
      </p:sp>
      <p:sp>
        <p:nvSpPr>
          <p:cNvPr id="8" name="Text 6"/>
          <p:cNvSpPr/>
          <p:nvPr/>
        </p:nvSpPr>
        <p:spPr>
          <a:xfrm>
            <a:off x="411480" y="1353312"/>
            <a:ext cx="26060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AI / Intelligence</a:t>
            </a:r>
            <a:endParaRPr lang="en-US" sz="1200" dirty="0"/>
          </a:p>
        </p:txBody>
      </p:sp>
      <p:sp>
        <p:nvSpPr>
          <p:cNvPr id="9" name="Shape 7"/>
          <p:cNvSpPr/>
          <p:nvPr/>
        </p:nvSpPr>
        <p:spPr>
          <a:xfrm>
            <a:off x="448056" y="1929384"/>
            <a:ext cx="201168" cy="201168"/>
          </a:xfrm>
          <a:prstGeom prst="ellipse">
            <a:avLst/>
          </a:prstGeom>
          <a:solidFill>
            <a:srgbClr val="E85D04"/>
          </a:solidFill>
          <a:ln/>
        </p:spPr>
      </p:sp>
      <p:sp>
        <p:nvSpPr>
          <p:cNvPr id="10" name="Text 8"/>
          <p:cNvSpPr/>
          <p:nvPr/>
        </p:nvSpPr>
        <p:spPr>
          <a:xfrm>
            <a:off x="731520" y="1874520"/>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Claude Opus 4</a:t>
            </a:r>
            <a:endParaRPr lang="en-US" sz="1100" dirty="0"/>
          </a:p>
        </p:txBody>
      </p:sp>
      <p:sp>
        <p:nvSpPr>
          <p:cNvPr id="11" name="Text 9"/>
          <p:cNvSpPr/>
          <p:nvPr/>
        </p:nvSpPr>
        <p:spPr>
          <a:xfrm>
            <a:off x="731520" y="2148840"/>
            <a:ext cx="228600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Meta-Scientist reasoning</a:t>
            </a:r>
            <a:endParaRPr lang="en-US" sz="950" dirty="0"/>
          </a:p>
        </p:txBody>
      </p:sp>
      <p:sp>
        <p:nvSpPr>
          <p:cNvPr id="12" name="Shape 10"/>
          <p:cNvSpPr/>
          <p:nvPr/>
        </p:nvSpPr>
        <p:spPr>
          <a:xfrm>
            <a:off x="448056" y="2734056"/>
            <a:ext cx="201168" cy="201168"/>
          </a:xfrm>
          <a:prstGeom prst="ellipse">
            <a:avLst/>
          </a:prstGeom>
          <a:solidFill>
            <a:srgbClr val="E85D04"/>
          </a:solidFill>
          <a:ln/>
        </p:spPr>
      </p:sp>
      <p:sp>
        <p:nvSpPr>
          <p:cNvPr id="13" name="Text 11"/>
          <p:cNvSpPr/>
          <p:nvPr/>
        </p:nvSpPr>
        <p:spPr>
          <a:xfrm>
            <a:off x="731520" y="2679192"/>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Claude Sonnet 4</a:t>
            </a:r>
            <a:endParaRPr lang="en-US" sz="1100" dirty="0"/>
          </a:p>
        </p:txBody>
      </p:sp>
      <p:sp>
        <p:nvSpPr>
          <p:cNvPr id="14" name="Text 12"/>
          <p:cNvSpPr/>
          <p:nvPr/>
        </p:nvSpPr>
        <p:spPr>
          <a:xfrm>
            <a:off x="731520" y="2953512"/>
            <a:ext cx="228600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Data, Feature, Eval, Report</a:t>
            </a:r>
            <a:endParaRPr lang="en-US" sz="950" dirty="0"/>
          </a:p>
        </p:txBody>
      </p:sp>
      <p:sp>
        <p:nvSpPr>
          <p:cNvPr id="15" name="Shape 13"/>
          <p:cNvSpPr/>
          <p:nvPr/>
        </p:nvSpPr>
        <p:spPr>
          <a:xfrm>
            <a:off x="448056" y="3538728"/>
            <a:ext cx="201168" cy="201168"/>
          </a:xfrm>
          <a:prstGeom prst="ellipse">
            <a:avLst/>
          </a:prstGeom>
          <a:solidFill>
            <a:srgbClr val="E85D04"/>
          </a:solidFill>
          <a:ln/>
        </p:spPr>
      </p:sp>
      <p:sp>
        <p:nvSpPr>
          <p:cNvPr id="16" name="Text 14"/>
          <p:cNvSpPr/>
          <p:nvPr/>
        </p:nvSpPr>
        <p:spPr>
          <a:xfrm>
            <a:off x="731520" y="3483864"/>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Anthropic Agent SDK</a:t>
            </a:r>
            <a:endParaRPr lang="en-US" sz="1100" dirty="0"/>
          </a:p>
        </p:txBody>
      </p:sp>
      <p:sp>
        <p:nvSpPr>
          <p:cNvPr id="17" name="Text 15"/>
          <p:cNvSpPr/>
          <p:nvPr/>
        </p:nvSpPr>
        <p:spPr>
          <a:xfrm>
            <a:off x="731520" y="3758184"/>
            <a:ext cx="228600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Agentic tool-use loop</a:t>
            </a:r>
            <a:endParaRPr lang="en-US" sz="950" dirty="0"/>
          </a:p>
        </p:txBody>
      </p:sp>
      <p:sp>
        <p:nvSpPr>
          <p:cNvPr id="18" name="Shape 16"/>
          <p:cNvSpPr/>
          <p:nvPr/>
        </p:nvSpPr>
        <p:spPr>
          <a:xfrm>
            <a:off x="3291840" y="1325880"/>
            <a:ext cx="2788920" cy="356616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9" name="Shape 17"/>
          <p:cNvSpPr/>
          <p:nvPr/>
        </p:nvSpPr>
        <p:spPr>
          <a:xfrm>
            <a:off x="3291840" y="1325880"/>
            <a:ext cx="50292" cy="3566160"/>
          </a:xfrm>
          <a:prstGeom prst="rect">
            <a:avLst/>
          </a:prstGeom>
          <a:solidFill>
            <a:srgbClr val="0EA5E9"/>
          </a:solidFill>
          <a:ln/>
        </p:spPr>
      </p:sp>
      <p:sp>
        <p:nvSpPr>
          <p:cNvPr id="20" name="Shape 18"/>
          <p:cNvSpPr/>
          <p:nvPr/>
        </p:nvSpPr>
        <p:spPr>
          <a:xfrm>
            <a:off x="3291840" y="1325880"/>
            <a:ext cx="2788920" cy="438912"/>
          </a:xfrm>
          <a:prstGeom prst="rect">
            <a:avLst/>
          </a:prstGeom>
          <a:solidFill>
            <a:srgbClr val="0EA5E9"/>
          </a:solidFill>
          <a:ln/>
        </p:spPr>
      </p:sp>
      <p:sp>
        <p:nvSpPr>
          <p:cNvPr id="21" name="Text 19"/>
          <p:cNvSpPr/>
          <p:nvPr/>
        </p:nvSpPr>
        <p:spPr>
          <a:xfrm>
            <a:off x="3383280" y="1353312"/>
            <a:ext cx="26060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Data &amp; ML</a:t>
            </a:r>
            <a:endParaRPr lang="en-US" sz="1200" dirty="0"/>
          </a:p>
        </p:txBody>
      </p:sp>
      <p:sp>
        <p:nvSpPr>
          <p:cNvPr id="22" name="Shape 20"/>
          <p:cNvSpPr/>
          <p:nvPr/>
        </p:nvSpPr>
        <p:spPr>
          <a:xfrm>
            <a:off x="3419856" y="1929384"/>
            <a:ext cx="201168" cy="201168"/>
          </a:xfrm>
          <a:prstGeom prst="ellipse">
            <a:avLst/>
          </a:prstGeom>
          <a:solidFill>
            <a:srgbClr val="0EA5E9"/>
          </a:solidFill>
          <a:ln/>
        </p:spPr>
      </p:sp>
      <p:sp>
        <p:nvSpPr>
          <p:cNvPr id="23" name="Text 21"/>
          <p:cNvSpPr/>
          <p:nvPr/>
        </p:nvSpPr>
        <p:spPr>
          <a:xfrm>
            <a:off x="3703320" y="1874520"/>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nba_api</a:t>
            </a:r>
            <a:endParaRPr lang="en-US" sz="1100" dirty="0"/>
          </a:p>
        </p:txBody>
      </p:sp>
      <p:sp>
        <p:nvSpPr>
          <p:cNvPr id="24" name="Text 22"/>
          <p:cNvSpPr/>
          <p:nvPr/>
        </p:nvSpPr>
        <p:spPr>
          <a:xfrm>
            <a:off x="3703320" y="2148840"/>
            <a:ext cx="228600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Official NBA Stats endpoint</a:t>
            </a:r>
            <a:endParaRPr lang="en-US" sz="950" dirty="0"/>
          </a:p>
        </p:txBody>
      </p:sp>
      <p:sp>
        <p:nvSpPr>
          <p:cNvPr id="25" name="Shape 23"/>
          <p:cNvSpPr/>
          <p:nvPr/>
        </p:nvSpPr>
        <p:spPr>
          <a:xfrm>
            <a:off x="3419856" y="2734056"/>
            <a:ext cx="201168" cy="201168"/>
          </a:xfrm>
          <a:prstGeom prst="ellipse">
            <a:avLst/>
          </a:prstGeom>
          <a:solidFill>
            <a:srgbClr val="0EA5E9"/>
          </a:solidFill>
          <a:ln/>
        </p:spPr>
      </p:sp>
      <p:sp>
        <p:nvSpPr>
          <p:cNvPr id="26" name="Text 24"/>
          <p:cNvSpPr/>
          <p:nvPr/>
        </p:nvSpPr>
        <p:spPr>
          <a:xfrm>
            <a:off x="3703320" y="2679192"/>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scikit-learn</a:t>
            </a:r>
            <a:endParaRPr lang="en-US" sz="1100" dirty="0"/>
          </a:p>
        </p:txBody>
      </p:sp>
      <p:sp>
        <p:nvSpPr>
          <p:cNvPr id="27" name="Text 25"/>
          <p:cNvSpPr/>
          <p:nvPr/>
        </p:nvSpPr>
        <p:spPr>
          <a:xfrm>
            <a:off x="3703320" y="2953512"/>
            <a:ext cx="228600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Ridge, LR, GB, ensemble</a:t>
            </a:r>
            <a:endParaRPr lang="en-US" sz="950" dirty="0"/>
          </a:p>
        </p:txBody>
      </p:sp>
      <p:sp>
        <p:nvSpPr>
          <p:cNvPr id="28" name="Shape 26"/>
          <p:cNvSpPr/>
          <p:nvPr/>
        </p:nvSpPr>
        <p:spPr>
          <a:xfrm>
            <a:off x="3419856" y="3538728"/>
            <a:ext cx="201168" cy="201168"/>
          </a:xfrm>
          <a:prstGeom prst="ellipse">
            <a:avLst/>
          </a:prstGeom>
          <a:solidFill>
            <a:srgbClr val="0EA5E9"/>
          </a:solidFill>
          <a:ln/>
        </p:spPr>
      </p:sp>
      <p:sp>
        <p:nvSpPr>
          <p:cNvPr id="29" name="Text 27"/>
          <p:cNvSpPr/>
          <p:nvPr/>
        </p:nvSpPr>
        <p:spPr>
          <a:xfrm>
            <a:off x="3703320" y="3483864"/>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LightGBM / XGBoost</a:t>
            </a:r>
            <a:endParaRPr lang="en-US" sz="1100" dirty="0"/>
          </a:p>
        </p:txBody>
      </p:sp>
      <p:sp>
        <p:nvSpPr>
          <p:cNvPr id="30" name="Text 28"/>
          <p:cNvSpPr/>
          <p:nvPr/>
        </p:nvSpPr>
        <p:spPr>
          <a:xfrm>
            <a:off x="3703320" y="3758184"/>
            <a:ext cx="228600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Tree-based alternatives</a:t>
            </a:r>
            <a:endParaRPr lang="en-US" sz="950" dirty="0"/>
          </a:p>
        </p:txBody>
      </p:sp>
      <p:sp>
        <p:nvSpPr>
          <p:cNvPr id="31" name="Shape 29"/>
          <p:cNvSpPr/>
          <p:nvPr/>
        </p:nvSpPr>
        <p:spPr>
          <a:xfrm>
            <a:off x="3419856" y="4343400"/>
            <a:ext cx="201168" cy="201168"/>
          </a:xfrm>
          <a:prstGeom prst="ellipse">
            <a:avLst/>
          </a:prstGeom>
          <a:solidFill>
            <a:srgbClr val="0EA5E9"/>
          </a:solidFill>
          <a:ln/>
        </p:spPr>
      </p:sp>
      <p:sp>
        <p:nvSpPr>
          <p:cNvPr id="32" name="Text 30"/>
          <p:cNvSpPr/>
          <p:nvPr/>
        </p:nvSpPr>
        <p:spPr>
          <a:xfrm>
            <a:off x="3703320" y="4288536"/>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pandas + numpy</a:t>
            </a:r>
            <a:endParaRPr lang="en-US" sz="1100" dirty="0"/>
          </a:p>
        </p:txBody>
      </p:sp>
      <p:sp>
        <p:nvSpPr>
          <p:cNvPr id="33" name="Text 31"/>
          <p:cNvSpPr/>
          <p:nvPr/>
        </p:nvSpPr>
        <p:spPr>
          <a:xfrm>
            <a:off x="3703320" y="4562856"/>
            <a:ext cx="228600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Feature engineering</a:t>
            </a:r>
            <a:endParaRPr lang="en-US" sz="950" dirty="0"/>
          </a:p>
        </p:txBody>
      </p:sp>
      <p:sp>
        <p:nvSpPr>
          <p:cNvPr id="34" name="Shape 32"/>
          <p:cNvSpPr/>
          <p:nvPr/>
        </p:nvSpPr>
        <p:spPr>
          <a:xfrm>
            <a:off x="6263640" y="1325880"/>
            <a:ext cx="2788920" cy="356616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35" name="Shape 33"/>
          <p:cNvSpPr/>
          <p:nvPr/>
        </p:nvSpPr>
        <p:spPr>
          <a:xfrm>
            <a:off x="6263640" y="1325880"/>
            <a:ext cx="50292" cy="3566160"/>
          </a:xfrm>
          <a:prstGeom prst="rect">
            <a:avLst/>
          </a:prstGeom>
          <a:solidFill>
            <a:srgbClr val="22C55E"/>
          </a:solidFill>
          <a:ln/>
        </p:spPr>
      </p:sp>
      <p:sp>
        <p:nvSpPr>
          <p:cNvPr id="36" name="Shape 34"/>
          <p:cNvSpPr/>
          <p:nvPr/>
        </p:nvSpPr>
        <p:spPr>
          <a:xfrm>
            <a:off x="6263640" y="1325880"/>
            <a:ext cx="2788920" cy="438912"/>
          </a:xfrm>
          <a:prstGeom prst="rect">
            <a:avLst/>
          </a:prstGeom>
          <a:solidFill>
            <a:srgbClr val="22C55E"/>
          </a:solidFill>
          <a:ln/>
        </p:spPr>
      </p:sp>
      <p:sp>
        <p:nvSpPr>
          <p:cNvPr id="37" name="Text 35"/>
          <p:cNvSpPr/>
          <p:nvPr/>
        </p:nvSpPr>
        <p:spPr>
          <a:xfrm>
            <a:off x="6355080" y="1353312"/>
            <a:ext cx="26060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Storage &amp; Web</a:t>
            </a:r>
            <a:endParaRPr lang="en-US" sz="1200" dirty="0"/>
          </a:p>
        </p:txBody>
      </p:sp>
      <p:sp>
        <p:nvSpPr>
          <p:cNvPr id="38" name="Shape 36"/>
          <p:cNvSpPr/>
          <p:nvPr/>
        </p:nvSpPr>
        <p:spPr>
          <a:xfrm>
            <a:off x="6391656" y="1929384"/>
            <a:ext cx="201168" cy="201168"/>
          </a:xfrm>
          <a:prstGeom prst="ellipse">
            <a:avLst/>
          </a:prstGeom>
          <a:solidFill>
            <a:srgbClr val="22C55E"/>
          </a:solidFill>
          <a:ln/>
        </p:spPr>
      </p:sp>
      <p:sp>
        <p:nvSpPr>
          <p:cNvPr id="39" name="Text 37"/>
          <p:cNvSpPr/>
          <p:nvPr/>
        </p:nvSpPr>
        <p:spPr>
          <a:xfrm>
            <a:off x="6675120" y="1874520"/>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SQLite</a:t>
            </a:r>
            <a:endParaRPr lang="en-US" sz="1100" dirty="0"/>
          </a:p>
        </p:txBody>
      </p:sp>
      <p:sp>
        <p:nvSpPr>
          <p:cNvPr id="40" name="Text 38"/>
          <p:cNvSpPr/>
          <p:nvPr/>
        </p:nvSpPr>
        <p:spPr>
          <a:xfrm>
            <a:off x="6675120" y="2148840"/>
            <a:ext cx="228600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Experiment metadata &amp; runs</a:t>
            </a:r>
            <a:endParaRPr lang="en-US" sz="950" dirty="0"/>
          </a:p>
        </p:txBody>
      </p:sp>
      <p:sp>
        <p:nvSpPr>
          <p:cNvPr id="41" name="Shape 39"/>
          <p:cNvSpPr/>
          <p:nvPr/>
        </p:nvSpPr>
        <p:spPr>
          <a:xfrm>
            <a:off x="6391656" y="2734056"/>
            <a:ext cx="201168" cy="201168"/>
          </a:xfrm>
          <a:prstGeom prst="ellipse">
            <a:avLst/>
          </a:prstGeom>
          <a:solidFill>
            <a:srgbClr val="22C55E"/>
          </a:solidFill>
          <a:ln/>
        </p:spPr>
      </p:sp>
      <p:sp>
        <p:nvSpPr>
          <p:cNvPr id="42" name="Text 40"/>
          <p:cNvSpPr/>
          <p:nvPr/>
        </p:nvSpPr>
        <p:spPr>
          <a:xfrm>
            <a:off x="6675120" y="2679192"/>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Apache Parquet</a:t>
            </a:r>
            <a:endParaRPr lang="en-US" sz="1100" dirty="0"/>
          </a:p>
        </p:txBody>
      </p:sp>
      <p:sp>
        <p:nvSpPr>
          <p:cNvPr id="43" name="Text 41"/>
          <p:cNvSpPr/>
          <p:nvPr/>
        </p:nvSpPr>
        <p:spPr>
          <a:xfrm>
            <a:off x="6675120" y="2953512"/>
            <a:ext cx="228600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Raw data &amp; feature matrices</a:t>
            </a:r>
            <a:endParaRPr lang="en-US" sz="950" dirty="0"/>
          </a:p>
        </p:txBody>
      </p:sp>
      <p:sp>
        <p:nvSpPr>
          <p:cNvPr id="44" name="Shape 42"/>
          <p:cNvSpPr/>
          <p:nvPr/>
        </p:nvSpPr>
        <p:spPr>
          <a:xfrm>
            <a:off x="6391656" y="3538728"/>
            <a:ext cx="201168" cy="201168"/>
          </a:xfrm>
          <a:prstGeom prst="ellipse">
            <a:avLst/>
          </a:prstGeom>
          <a:solidFill>
            <a:srgbClr val="22C55E"/>
          </a:solidFill>
          <a:ln/>
        </p:spPr>
      </p:sp>
      <p:sp>
        <p:nvSpPr>
          <p:cNvPr id="45" name="Text 43"/>
          <p:cNvSpPr/>
          <p:nvPr/>
        </p:nvSpPr>
        <p:spPr>
          <a:xfrm>
            <a:off x="6675120" y="3483864"/>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Flask</a:t>
            </a:r>
            <a:endParaRPr lang="en-US" sz="1100" dirty="0"/>
          </a:p>
        </p:txBody>
      </p:sp>
      <p:sp>
        <p:nvSpPr>
          <p:cNvPr id="46" name="Text 44"/>
          <p:cNvSpPr/>
          <p:nvPr/>
        </p:nvSpPr>
        <p:spPr>
          <a:xfrm>
            <a:off x="6675120" y="3758184"/>
            <a:ext cx="228600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Web dashboard (port 5001)</a:t>
            </a:r>
            <a:endParaRPr lang="en-US" sz="950" dirty="0"/>
          </a:p>
        </p:txBody>
      </p:sp>
      <p:sp>
        <p:nvSpPr>
          <p:cNvPr id="47" name="Shape 45"/>
          <p:cNvSpPr/>
          <p:nvPr/>
        </p:nvSpPr>
        <p:spPr>
          <a:xfrm>
            <a:off x="6391656" y="4343400"/>
            <a:ext cx="201168" cy="201168"/>
          </a:xfrm>
          <a:prstGeom prst="ellipse">
            <a:avLst/>
          </a:prstGeom>
          <a:solidFill>
            <a:srgbClr val="22C55E"/>
          </a:solidFill>
          <a:ln/>
        </p:spPr>
      </p:sp>
      <p:sp>
        <p:nvSpPr>
          <p:cNvPr id="48" name="Text 46"/>
          <p:cNvSpPr/>
          <p:nvPr/>
        </p:nvSpPr>
        <p:spPr>
          <a:xfrm>
            <a:off x="6675120" y="4288536"/>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Jinja2</a:t>
            </a:r>
            <a:endParaRPr lang="en-US" sz="1100" dirty="0"/>
          </a:p>
        </p:txBody>
      </p:sp>
      <p:sp>
        <p:nvSpPr>
          <p:cNvPr id="49" name="Text 47"/>
          <p:cNvSpPr/>
          <p:nvPr/>
        </p:nvSpPr>
        <p:spPr>
          <a:xfrm>
            <a:off x="6675120" y="4562856"/>
            <a:ext cx="228600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HTML report generation</a:t>
            </a:r>
            <a:endParaRPr lang="en-US" sz="950" dirty="0"/>
          </a:p>
        </p:txBody>
      </p:sp>
      <p:sp>
        <p:nvSpPr>
          <p:cNvPr id="50" name="Text 48"/>
          <p:cNvSpPr/>
          <p:nvPr/>
        </p:nvSpPr>
        <p:spPr>
          <a:xfrm>
            <a:off x="320040" y="4846320"/>
            <a:ext cx="8503920" cy="228600"/>
          </a:xfrm>
          <a:prstGeom prst="rect">
            <a:avLst/>
          </a:prstGeom>
          <a:noFill/>
          <a:ln/>
        </p:spPr>
        <p:txBody>
          <a:bodyPr wrap="square" lIns="0" tIns="0" rIns="0" bIns="0"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All Python · ~2,500 lines of code · Runs locally in a venv</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What's Next</a:t>
            </a:r>
            <a:endParaRPr lang="en-US" sz="2600" dirty="0"/>
          </a:p>
        </p:txBody>
      </p:sp>
      <p:sp>
        <p:nvSpPr>
          <p:cNvPr id="3" name="Shape 1"/>
          <p:cNvSpPr/>
          <p:nvPr/>
        </p:nvSpPr>
        <p:spPr>
          <a:xfrm>
            <a:off x="457200" y="868680"/>
            <a:ext cx="1097280" cy="50292"/>
          </a:xfrm>
          <a:prstGeom prst="rect">
            <a:avLst/>
          </a:prstGeom>
          <a:solidFill>
            <a:srgbClr val="E85D04"/>
          </a:solidFill>
          <a:ln/>
        </p:spPr>
      </p:sp>
      <p:sp>
        <p:nvSpPr>
          <p:cNvPr id="4" name="Text 2"/>
          <p:cNvSpPr/>
          <p:nvPr/>
        </p:nvSpPr>
        <p:spPr>
          <a:xfrm>
            <a:off x="457200" y="914400"/>
            <a:ext cx="82296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Prioritized improvements ordered by expected impact</a:t>
            </a:r>
            <a:endParaRPr lang="en-US" sz="1300" dirty="0"/>
          </a:p>
        </p:txBody>
      </p:sp>
      <p:sp>
        <p:nvSpPr>
          <p:cNvPr id="5" name="Shape 3"/>
          <p:cNvSpPr/>
          <p:nvPr/>
        </p:nvSpPr>
        <p:spPr>
          <a:xfrm>
            <a:off x="320040" y="1325880"/>
            <a:ext cx="8503920" cy="667512"/>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6" name="Shape 4"/>
          <p:cNvSpPr/>
          <p:nvPr/>
        </p:nvSpPr>
        <p:spPr>
          <a:xfrm>
            <a:off x="320040" y="1325880"/>
            <a:ext cx="50292" cy="667512"/>
          </a:xfrm>
          <a:prstGeom prst="rect">
            <a:avLst/>
          </a:prstGeom>
          <a:solidFill>
            <a:srgbClr val="22C55E"/>
          </a:solidFill>
          <a:ln/>
        </p:spPr>
      </p:sp>
      <p:sp>
        <p:nvSpPr>
          <p:cNvPr id="7" name="Shape 5"/>
          <p:cNvSpPr/>
          <p:nvPr/>
        </p:nvSpPr>
        <p:spPr>
          <a:xfrm>
            <a:off x="393192" y="1431036"/>
            <a:ext cx="457200" cy="457200"/>
          </a:xfrm>
          <a:prstGeom prst="ellipse">
            <a:avLst/>
          </a:prstGeom>
          <a:solidFill>
            <a:srgbClr val="22C55E"/>
          </a:solidFill>
          <a:ln/>
        </p:spPr>
      </p:sp>
      <p:sp>
        <p:nvSpPr>
          <p:cNvPr id="8" name="Text 6"/>
          <p:cNvSpPr/>
          <p:nvPr/>
        </p:nvSpPr>
        <p:spPr>
          <a:xfrm>
            <a:off x="393192" y="1481328"/>
            <a:ext cx="4572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a:t>
            </a:r>
            <a:endParaRPr lang="en-US" sz="1400" dirty="0"/>
          </a:p>
        </p:txBody>
      </p:sp>
      <p:sp>
        <p:nvSpPr>
          <p:cNvPr id="9" name="Shape 7"/>
          <p:cNvSpPr/>
          <p:nvPr/>
        </p:nvSpPr>
        <p:spPr>
          <a:xfrm>
            <a:off x="7680960" y="1517904"/>
            <a:ext cx="868680" cy="274320"/>
          </a:xfrm>
          <a:prstGeom prst="rect">
            <a:avLst/>
          </a:prstGeom>
          <a:solidFill>
            <a:srgbClr val="22C55E"/>
          </a:solidFill>
          <a:ln/>
        </p:spPr>
      </p:sp>
      <p:sp>
        <p:nvSpPr>
          <p:cNvPr id="10" name="Text 8"/>
          <p:cNvSpPr/>
          <p:nvPr/>
        </p:nvSpPr>
        <p:spPr>
          <a:xfrm>
            <a:off x="7680960" y="1517904"/>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11" name="Text 9"/>
          <p:cNvSpPr/>
          <p:nvPr/>
        </p:nvSpPr>
        <p:spPr>
          <a:xfrm>
            <a:off x="960120" y="1389888"/>
            <a:ext cx="6583680" cy="274320"/>
          </a:xfrm>
          <a:prstGeom prst="rect">
            <a:avLst/>
          </a:prstGeom>
          <a:noFill/>
          <a:ln/>
        </p:spPr>
        <p:txBody>
          <a:bodyPr wrap="square" lIns="0" tIns="0" rIns="0" bIns="0" rtlCol="0" anchor="ctr"/>
          <a:lstStyle/>
          <a:p>
            <a:pPr indent="0" marL="0">
              <a:buNone/>
            </a:pPr>
            <a:r>
              <a:rPr lang="en-US" sz="1200" b="1" dirty="0">
                <a:solidFill>
                  <a:srgbClr val="22C55E"/>
                </a:solidFill>
                <a:latin typeface="Arial Black" pitchFamily="34" charset="0"/>
                <a:ea typeface="Arial Black" pitchFamily="34" charset="-122"/>
                <a:cs typeface="Arial Black" pitchFamily="34" charset="-120"/>
              </a:rPr>
              <a:t>Player-Level Data</a:t>
            </a:r>
            <a:endParaRPr lang="en-US" sz="1200" dirty="0"/>
          </a:p>
        </p:txBody>
      </p:sp>
      <p:sp>
        <p:nvSpPr>
          <p:cNvPr id="12" name="Text 10"/>
          <p:cNvSpPr/>
          <p:nvPr/>
        </p:nvSpPr>
        <p:spPr>
          <a:xfrm>
            <a:off x="960120" y="1691640"/>
            <a:ext cx="658368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Roster strength, star form, depth, plus/minus via Game Score. ✓ Shipped — contributed to 0.6161 best.</a:t>
            </a:r>
            <a:endParaRPr lang="en-US" sz="950" dirty="0"/>
          </a:p>
        </p:txBody>
      </p:sp>
      <p:sp>
        <p:nvSpPr>
          <p:cNvPr id="13" name="Shape 11"/>
          <p:cNvSpPr/>
          <p:nvPr/>
        </p:nvSpPr>
        <p:spPr>
          <a:xfrm>
            <a:off x="320040" y="2075688"/>
            <a:ext cx="8503920" cy="667512"/>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4" name="Shape 12"/>
          <p:cNvSpPr/>
          <p:nvPr/>
        </p:nvSpPr>
        <p:spPr>
          <a:xfrm>
            <a:off x="320040" y="2075688"/>
            <a:ext cx="50292" cy="667512"/>
          </a:xfrm>
          <a:prstGeom prst="rect">
            <a:avLst/>
          </a:prstGeom>
          <a:solidFill>
            <a:srgbClr val="E85D04"/>
          </a:solidFill>
          <a:ln/>
        </p:spPr>
      </p:sp>
      <p:sp>
        <p:nvSpPr>
          <p:cNvPr id="15" name="Shape 13"/>
          <p:cNvSpPr/>
          <p:nvPr/>
        </p:nvSpPr>
        <p:spPr>
          <a:xfrm>
            <a:off x="393192" y="2180844"/>
            <a:ext cx="457200" cy="457200"/>
          </a:xfrm>
          <a:prstGeom prst="ellipse">
            <a:avLst/>
          </a:prstGeom>
          <a:solidFill>
            <a:srgbClr val="E85D04"/>
          </a:solidFill>
          <a:ln/>
        </p:spPr>
      </p:sp>
      <p:sp>
        <p:nvSpPr>
          <p:cNvPr id="16" name="Text 14"/>
          <p:cNvSpPr/>
          <p:nvPr/>
        </p:nvSpPr>
        <p:spPr>
          <a:xfrm>
            <a:off x="393192" y="2231136"/>
            <a:ext cx="4572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7" name="Shape 15"/>
          <p:cNvSpPr/>
          <p:nvPr/>
        </p:nvSpPr>
        <p:spPr>
          <a:xfrm>
            <a:off x="7680960" y="2267712"/>
            <a:ext cx="868680" cy="274320"/>
          </a:xfrm>
          <a:prstGeom prst="rect">
            <a:avLst/>
          </a:prstGeom>
          <a:solidFill>
            <a:srgbClr val="22C55E"/>
          </a:solidFill>
          <a:ln/>
        </p:spPr>
      </p:sp>
      <p:sp>
        <p:nvSpPr>
          <p:cNvPr id="18" name="Text 16"/>
          <p:cNvSpPr/>
          <p:nvPr/>
        </p:nvSpPr>
        <p:spPr>
          <a:xfrm>
            <a:off x="7680960" y="226771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19" name="Text 17"/>
          <p:cNvSpPr/>
          <p:nvPr/>
        </p:nvSpPr>
        <p:spPr>
          <a:xfrm>
            <a:off x="960120" y="2139696"/>
            <a:ext cx="65836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More Historical Seasons</a:t>
            </a:r>
            <a:endParaRPr lang="en-US" sz="1200" dirty="0"/>
          </a:p>
        </p:txBody>
      </p:sp>
      <p:sp>
        <p:nvSpPr>
          <p:cNvPr id="20" name="Text 18"/>
          <p:cNvSpPr/>
          <p:nvPr/>
        </p:nvSpPr>
        <p:spPr>
          <a:xfrm>
            <a:off x="960120" y="2441448"/>
            <a:ext cx="658368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Add 2018–2021 seasons (3× more data). Richer patterns, better regularization fitting, more robust Elo.</a:t>
            </a:r>
            <a:endParaRPr lang="en-US" sz="950" dirty="0"/>
          </a:p>
        </p:txBody>
      </p:sp>
      <p:sp>
        <p:nvSpPr>
          <p:cNvPr id="21" name="Shape 19"/>
          <p:cNvSpPr/>
          <p:nvPr/>
        </p:nvSpPr>
        <p:spPr>
          <a:xfrm>
            <a:off x="320040" y="2825496"/>
            <a:ext cx="8503920" cy="667512"/>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22" name="Shape 20"/>
          <p:cNvSpPr/>
          <p:nvPr/>
        </p:nvSpPr>
        <p:spPr>
          <a:xfrm>
            <a:off x="320040" y="2825496"/>
            <a:ext cx="50292" cy="667512"/>
          </a:xfrm>
          <a:prstGeom prst="rect">
            <a:avLst/>
          </a:prstGeom>
          <a:solidFill>
            <a:srgbClr val="0EA5E9"/>
          </a:solidFill>
          <a:ln/>
        </p:spPr>
      </p:sp>
      <p:sp>
        <p:nvSpPr>
          <p:cNvPr id="23" name="Shape 21"/>
          <p:cNvSpPr/>
          <p:nvPr/>
        </p:nvSpPr>
        <p:spPr>
          <a:xfrm>
            <a:off x="393192" y="2930652"/>
            <a:ext cx="457200" cy="457200"/>
          </a:xfrm>
          <a:prstGeom prst="ellipse">
            <a:avLst/>
          </a:prstGeom>
          <a:solidFill>
            <a:srgbClr val="0EA5E9"/>
          </a:solidFill>
          <a:ln/>
        </p:spPr>
      </p:sp>
      <p:sp>
        <p:nvSpPr>
          <p:cNvPr id="24" name="Text 22"/>
          <p:cNvSpPr/>
          <p:nvPr/>
        </p:nvSpPr>
        <p:spPr>
          <a:xfrm>
            <a:off x="393192" y="2980944"/>
            <a:ext cx="4572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25" name="Shape 23"/>
          <p:cNvSpPr/>
          <p:nvPr/>
        </p:nvSpPr>
        <p:spPr>
          <a:xfrm>
            <a:off x="7680960" y="3017520"/>
            <a:ext cx="868680" cy="274320"/>
          </a:xfrm>
          <a:prstGeom prst="rect">
            <a:avLst/>
          </a:prstGeom>
          <a:solidFill>
            <a:srgbClr val="F59E0B"/>
          </a:solidFill>
          <a:ln/>
        </p:spPr>
      </p:sp>
      <p:sp>
        <p:nvSpPr>
          <p:cNvPr id="26" name="Text 24"/>
          <p:cNvSpPr/>
          <p:nvPr/>
        </p:nvSpPr>
        <p:spPr>
          <a:xfrm>
            <a:off x="7680960" y="3017520"/>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27" name="Text 25"/>
          <p:cNvSpPr/>
          <p:nvPr/>
        </p:nvSpPr>
        <p:spPr>
          <a:xfrm>
            <a:off x="960120" y="2889504"/>
            <a:ext cx="65836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Venue &amp; Travel Features</a:t>
            </a:r>
            <a:endParaRPr lang="en-US" sz="1200" dirty="0"/>
          </a:p>
        </p:txBody>
      </p:sp>
      <p:sp>
        <p:nvSpPr>
          <p:cNvPr id="28" name="Text 26"/>
          <p:cNvSpPr/>
          <p:nvPr/>
        </p:nvSpPr>
        <p:spPr>
          <a:xfrm>
            <a:off x="960120" y="3191256"/>
            <a:ext cx="658368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Miles traveled, timezone crossings, altitude (Denver!). Rest doesn't fully capture travel fatigue.</a:t>
            </a:r>
            <a:endParaRPr lang="en-US" sz="950" dirty="0"/>
          </a:p>
        </p:txBody>
      </p:sp>
      <p:sp>
        <p:nvSpPr>
          <p:cNvPr id="29" name="Shape 27"/>
          <p:cNvSpPr/>
          <p:nvPr/>
        </p:nvSpPr>
        <p:spPr>
          <a:xfrm>
            <a:off x="320040" y="3575304"/>
            <a:ext cx="8503920" cy="667512"/>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30" name="Shape 28"/>
          <p:cNvSpPr/>
          <p:nvPr/>
        </p:nvSpPr>
        <p:spPr>
          <a:xfrm>
            <a:off x="320040" y="3575304"/>
            <a:ext cx="50292" cy="667512"/>
          </a:xfrm>
          <a:prstGeom prst="rect">
            <a:avLst/>
          </a:prstGeom>
          <a:solidFill>
            <a:srgbClr val="8B5CF6"/>
          </a:solidFill>
          <a:ln/>
        </p:spPr>
      </p:sp>
      <p:sp>
        <p:nvSpPr>
          <p:cNvPr id="31" name="Shape 29"/>
          <p:cNvSpPr/>
          <p:nvPr/>
        </p:nvSpPr>
        <p:spPr>
          <a:xfrm>
            <a:off x="393192" y="3680460"/>
            <a:ext cx="457200" cy="457200"/>
          </a:xfrm>
          <a:prstGeom prst="ellipse">
            <a:avLst/>
          </a:prstGeom>
          <a:solidFill>
            <a:srgbClr val="8B5CF6"/>
          </a:solidFill>
          <a:ln/>
        </p:spPr>
      </p:sp>
      <p:sp>
        <p:nvSpPr>
          <p:cNvPr id="32" name="Text 30"/>
          <p:cNvSpPr/>
          <p:nvPr/>
        </p:nvSpPr>
        <p:spPr>
          <a:xfrm>
            <a:off x="393192" y="3730752"/>
            <a:ext cx="4572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4</a:t>
            </a:r>
            <a:endParaRPr lang="en-US" sz="1400" dirty="0"/>
          </a:p>
        </p:txBody>
      </p:sp>
      <p:sp>
        <p:nvSpPr>
          <p:cNvPr id="33" name="Shape 31"/>
          <p:cNvSpPr/>
          <p:nvPr/>
        </p:nvSpPr>
        <p:spPr>
          <a:xfrm>
            <a:off x="7680960" y="3767328"/>
            <a:ext cx="868680" cy="274320"/>
          </a:xfrm>
          <a:prstGeom prst="rect">
            <a:avLst/>
          </a:prstGeom>
          <a:solidFill>
            <a:srgbClr val="F59E0B"/>
          </a:solidFill>
          <a:ln/>
        </p:spPr>
      </p:sp>
      <p:sp>
        <p:nvSpPr>
          <p:cNvPr id="34" name="Text 32"/>
          <p:cNvSpPr/>
          <p:nvPr/>
        </p:nvSpPr>
        <p:spPr>
          <a:xfrm>
            <a:off x="7680960" y="3767328"/>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35" name="Text 33"/>
          <p:cNvSpPr/>
          <p:nvPr/>
        </p:nvSpPr>
        <p:spPr>
          <a:xfrm>
            <a:off x="960120" y="3639312"/>
            <a:ext cx="65836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Seasonal Context</a:t>
            </a:r>
            <a:endParaRPr lang="en-US" sz="1200" dirty="0"/>
          </a:p>
        </p:txBody>
      </p:sp>
      <p:sp>
        <p:nvSpPr>
          <p:cNvPr id="36" name="Text 34"/>
          <p:cNvSpPr/>
          <p:nvPr/>
        </p:nvSpPr>
        <p:spPr>
          <a:xfrm>
            <a:off x="960120" y="3941064"/>
            <a:ext cx="658368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Playoff race pressure, games eliminated, load management incentives in late season.</a:t>
            </a:r>
            <a:endParaRPr lang="en-US" sz="950" dirty="0"/>
          </a:p>
        </p:txBody>
      </p:sp>
      <p:sp>
        <p:nvSpPr>
          <p:cNvPr id="37" name="Shape 35"/>
          <p:cNvSpPr/>
          <p:nvPr/>
        </p:nvSpPr>
        <p:spPr>
          <a:xfrm>
            <a:off x="320040" y="4325112"/>
            <a:ext cx="8503920" cy="667512"/>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38" name="Shape 36"/>
          <p:cNvSpPr/>
          <p:nvPr/>
        </p:nvSpPr>
        <p:spPr>
          <a:xfrm>
            <a:off x="320040" y="4325112"/>
            <a:ext cx="50292" cy="667512"/>
          </a:xfrm>
          <a:prstGeom prst="rect">
            <a:avLst/>
          </a:prstGeom>
          <a:solidFill>
            <a:srgbClr val="F59E0B"/>
          </a:solidFill>
          <a:ln/>
        </p:spPr>
      </p:sp>
      <p:sp>
        <p:nvSpPr>
          <p:cNvPr id="39" name="Shape 37"/>
          <p:cNvSpPr/>
          <p:nvPr/>
        </p:nvSpPr>
        <p:spPr>
          <a:xfrm>
            <a:off x="393192" y="4430268"/>
            <a:ext cx="457200" cy="457200"/>
          </a:xfrm>
          <a:prstGeom prst="ellipse">
            <a:avLst/>
          </a:prstGeom>
          <a:solidFill>
            <a:srgbClr val="F59E0B"/>
          </a:solidFill>
          <a:ln/>
        </p:spPr>
      </p:sp>
      <p:sp>
        <p:nvSpPr>
          <p:cNvPr id="40" name="Text 38"/>
          <p:cNvSpPr/>
          <p:nvPr/>
        </p:nvSpPr>
        <p:spPr>
          <a:xfrm>
            <a:off x="393192" y="4480560"/>
            <a:ext cx="4572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5</a:t>
            </a:r>
            <a:endParaRPr lang="en-US" sz="1400" dirty="0"/>
          </a:p>
        </p:txBody>
      </p:sp>
      <p:sp>
        <p:nvSpPr>
          <p:cNvPr id="41" name="Shape 39"/>
          <p:cNvSpPr/>
          <p:nvPr/>
        </p:nvSpPr>
        <p:spPr>
          <a:xfrm>
            <a:off x="7680960" y="4517136"/>
            <a:ext cx="868680" cy="274320"/>
          </a:xfrm>
          <a:prstGeom prst="rect">
            <a:avLst/>
          </a:prstGeom>
          <a:solidFill>
            <a:srgbClr val="F59E0B"/>
          </a:solidFill>
          <a:ln/>
        </p:spPr>
      </p:sp>
      <p:sp>
        <p:nvSpPr>
          <p:cNvPr id="42" name="Text 40"/>
          <p:cNvSpPr/>
          <p:nvPr/>
        </p:nvSpPr>
        <p:spPr>
          <a:xfrm>
            <a:off x="7680960" y="4517136"/>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43" name="Text 41"/>
          <p:cNvSpPr/>
          <p:nvPr/>
        </p:nvSpPr>
        <p:spPr>
          <a:xfrm>
            <a:off x="960120" y="4389120"/>
            <a:ext cx="65836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Market Price as Feature</a:t>
            </a:r>
            <a:endParaRPr lang="en-US" sz="1200" dirty="0"/>
          </a:p>
        </p:txBody>
      </p:sp>
      <p:sp>
        <p:nvSpPr>
          <p:cNvPr id="44" name="Text 42"/>
          <p:cNvSpPr/>
          <p:nvPr/>
        </p:nvSpPr>
        <p:spPr>
          <a:xfrm>
            <a:off x="960120" y="4690872"/>
            <a:ext cx="658368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Use Polymarket odds as an input feature — markets aggregate info our model may not have.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200400" y="1943100"/>
            <a:ext cx="6400800" cy="6400800"/>
          </a:xfrm>
          <a:prstGeom prst="ellipse">
            <a:avLst/>
          </a:prstGeom>
          <a:solidFill>
            <a:srgbClr val="1E293B"/>
          </a:solidFill>
          <a:ln/>
        </p:spPr>
      </p:sp>
      <p:sp>
        <p:nvSpPr>
          <p:cNvPr id="3" name="Shape 1"/>
          <p:cNvSpPr/>
          <p:nvPr/>
        </p:nvSpPr>
        <p:spPr>
          <a:xfrm>
            <a:off x="6858000" y="-2286000"/>
            <a:ext cx="4572000" cy="4572000"/>
          </a:xfrm>
          <a:prstGeom prst="ellipse">
            <a:avLst/>
          </a:prstGeom>
          <a:solidFill>
            <a:srgbClr val="162032"/>
          </a:solidFill>
          <a:ln/>
        </p:spPr>
      </p:sp>
      <p:sp>
        <p:nvSpPr>
          <p:cNvPr id="4" name="Shape 2"/>
          <p:cNvSpPr/>
          <p:nvPr/>
        </p:nvSpPr>
        <p:spPr>
          <a:xfrm>
            <a:off x="0" y="0"/>
            <a:ext cx="109728" cy="5143500"/>
          </a:xfrm>
          <a:prstGeom prst="rect">
            <a:avLst/>
          </a:prstGeom>
          <a:solidFill>
            <a:srgbClr val="E85D04"/>
          </a:solidFill>
          <a:ln/>
        </p:spPr>
      </p:sp>
      <p:sp>
        <p:nvSpPr>
          <p:cNvPr id="5" name="Text 3"/>
          <p:cNvSpPr/>
          <p:nvPr/>
        </p:nvSpPr>
        <p:spPr>
          <a:xfrm>
            <a:off x="365760" y="457200"/>
            <a:ext cx="8412480" cy="502920"/>
          </a:xfrm>
          <a:prstGeom prst="rect">
            <a:avLst/>
          </a:prstGeom>
          <a:noFill/>
          <a:ln/>
        </p:spPr>
        <p:txBody>
          <a:bodyPr wrap="square" lIns="0" tIns="0" rIns="0" bIns="0" rtlCol="0" anchor="ctr"/>
          <a:lstStyle/>
          <a:p>
            <a:pPr indent="0" marL="0">
              <a:buNone/>
            </a:pPr>
            <a:r>
              <a:rPr lang="en-US" sz="1400" spc="400" kern="0" dirty="0">
                <a:solidFill>
                  <a:srgbClr val="E85D04"/>
                </a:solidFill>
                <a:latin typeface="Arial Black" pitchFamily="34" charset="0"/>
                <a:ea typeface="Arial Black" pitchFamily="34" charset="-122"/>
                <a:cs typeface="Arial Black" pitchFamily="34" charset="-120"/>
              </a:rPr>
              <a:t>The Vision</a:t>
            </a:r>
            <a:endParaRPr lang="en-US" sz="1400" dirty="0"/>
          </a:p>
        </p:txBody>
      </p:sp>
      <p:sp>
        <p:nvSpPr>
          <p:cNvPr id="6" name="Text 4"/>
          <p:cNvSpPr/>
          <p:nvPr/>
        </p:nvSpPr>
        <p:spPr>
          <a:xfrm>
            <a:off x="365760" y="1005840"/>
            <a:ext cx="7772400" cy="1371600"/>
          </a:xfrm>
          <a:prstGeom prst="rect">
            <a:avLst/>
          </a:prstGeom>
          <a:noFill/>
          <a:ln/>
        </p:spPr>
        <p:txBody>
          <a:bodyPr wrap="square" lIns="0" tIns="0" rIns="0" bIns="0" rtlCol="0" anchor="ctr"/>
          <a:lstStyle/>
          <a:p>
            <a:pPr indent="0" marL="0">
              <a:buNone/>
            </a:pPr>
            <a:r>
              <a:rPr lang="en-US" sz="3400" b="1" dirty="0">
                <a:solidFill>
                  <a:srgbClr val="FFFFFF"/>
                </a:solidFill>
                <a:latin typeface="Arial Black" pitchFamily="34" charset="0"/>
                <a:ea typeface="Arial Black" pitchFamily="34" charset="-122"/>
                <a:cs typeface="Arial Black" pitchFamily="34" charset="-120"/>
              </a:rPr>
              <a:t>Predicto is a proof-of-concept for</a:t>
            </a:r>
            <a:endParaRPr lang="en-US" sz="3400" dirty="0"/>
          </a:p>
          <a:p>
            <a:pPr indent="0" marL="0">
              <a:buNone/>
            </a:pPr>
            <a:r>
              <a:rPr lang="en-US" sz="3400" b="1" dirty="0">
                <a:solidFill>
                  <a:srgbClr val="FFFFFF"/>
                </a:solidFill>
                <a:latin typeface="Arial Black" pitchFamily="34" charset="0"/>
                <a:ea typeface="Arial Black" pitchFamily="34" charset="-122"/>
                <a:cs typeface="Arial Black" pitchFamily="34" charset="-120"/>
              </a:rPr>
              <a:t>Autonomous ML Research Agents</a:t>
            </a:r>
            <a:endParaRPr lang="en-US" sz="3400" dirty="0"/>
          </a:p>
        </p:txBody>
      </p:sp>
      <p:sp>
        <p:nvSpPr>
          <p:cNvPr id="7" name="Shape 5"/>
          <p:cNvSpPr/>
          <p:nvPr/>
        </p:nvSpPr>
        <p:spPr>
          <a:xfrm>
            <a:off x="365760" y="2450592"/>
            <a:ext cx="2286000" cy="50292"/>
          </a:xfrm>
          <a:prstGeom prst="rect">
            <a:avLst/>
          </a:prstGeom>
          <a:solidFill>
            <a:srgbClr val="E85D04"/>
          </a:solidFill>
          <a:ln/>
        </p:spPr>
      </p:sp>
      <p:sp>
        <p:nvSpPr>
          <p:cNvPr id="8" name="Text 6"/>
          <p:cNvSpPr/>
          <p:nvPr/>
        </p:nvSpPr>
        <p:spPr>
          <a:xfrm>
            <a:off x="365760" y="2606040"/>
            <a:ext cx="6400800" cy="1645920"/>
          </a:xfrm>
          <a:prstGeom prst="rect">
            <a:avLst/>
          </a:prstGeom>
          <a:noFill/>
          <a:ln/>
        </p:spPr>
        <p:txBody>
          <a:bodyPr wrap="square" lIns="0" tIns="0" rIns="0" bIns="0" rtlCol="0" anchor="t"/>
          <a:lstStyle/>
          <a:p>
            <a:pPr indent="0" marL="0">
              <a:buNone/>
            </a:pPr>
            <a:r>
              <a:rPr lang="en-US" sz="1400" dirty="0">
                <a:solidFill>
                  <a:srgbClr val="94A3B8"/>
                </a:solidFill>
                <a:latin typeface="Calibri" pitchFamily="34" charset="0"/>
                <a:ea typeface="Calibri" pitchFamily="34" charset="-122"/>
                <a:cs typeface="Calibri" pitchFamily="34" charset="-120"/>
              </a:rPr>
              <a:t>NBA prediction is just the domain. The real idea: an AI system that runs the full ML research loop — data collection, feature engineering, experiment design, evaluation, and reporting — without human intervention.</a:t>
            </a:r>
            <a:endParaRPr lang="en-US" sz="1400" dirty="0"/>
          </a:p>
          <a:p>
            <a:pPr indent="0" marL="0">
              <a:buNone/>
            </a:pPr>
            <a:endParaRPr lang="en-US" sz="1400" dirty="0"/>
          </a:p>
          <a:p>
            <a:pPr indent="0" marL="0">
              <a:buNone/>
            </a:pPr>
            <a:r>
              <a:rPr lang="en-US" sz="1400" dirty="0">
                <a:solidFill>
                  <a:srgbClr val="94A3B8"/>
                </a:solidFill>
                <a:latin typeface="Calibri" pitchFamily="34" charset="0"/>
                <a:ea typeface="Calibri" pitchFamily="34" charset="-122"/>
                <a:cs typeface="Calibri" pitchFamily="34" charset="-120"/>
              </a:rPr>
              <a:t>Every night it gets smarter. Every run builds on the last. Replace 'NBA' with any domain.</a:t>
            </a:r>
            <a:endParaRPr lang="en-US" sz="1400" dirty="0"/>
          </a:p>
        </p:txBody>
      </p:sp>
      <p:sp>
        <p:nvSpPr>
          <p:cNvPr id="9" name="Shape 7"/>
          <p:cNvSpPr/>
          <p:nvPr/>
        </p:nvSpPr>
        <p:spPr>
          <a:xfrm>
            <a:off x="365760" y="4160520"/>
            <a:ext cx="2651760" cy="82296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0" name="Shape 8"/>
          <p:cNvSpPr/>
          <p:nvPr/>
        </p:nvSpPr>
        <p:spPr>
          <a:xfrm>
            <a:off x="493776" y="4352544"/>
            <a:ext cx="438912" cy="438912"/>
          </a:xfrm>
          <a:prstGeom prst="ellipse">
            <a:avLst/>
          </a:prstGeom>
          <a:solidFill>
            <a:srgbClr val="E85D04"/>
          </a:solidFill>
          <a:ln/>
        </p:spPr>
      </p:sp>
      <p:sp>
        <p:nvSpPr>
          <p:cNvPr id="11" name="Text 9"/>
          <p:cNvSpPr/>
          <p:nvPr/>
        </p:nvSpPr>
        <p:spPr>
          <a:xfrm>
            <a:off x="493776" y="4325112"/>
            <a:ext cx="438912" cy="36576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2" name="Text 10"/>
          <p:cNvSpPr/>
          <p:nvPr/>
        </p:nvSpPr>
        <p:spPr>
          <a:xfrm>
            <a:off x="1051560" y="4206240"/>
            <a:ext cx="1828800" cy="256032"/>
          </a:xfrm>
          <a:prstGeom prst="rect">
            <a:avLst/>
          </a:prstGeom>
          <a:noFill/>
          <a:ln/>
        </p:spPr>
        <p:txBody>
          <a:bodyPr wrap="square" lIns="0" tIns="0" rIns="0" bIns="0" rtlCol="0" anchor="ctr"/>
          <a:lstStyle/>
          <a:p>
            <a:pPr indent="0" marL="0">
              <a:buNone/>
            </a:pPr>
            <a:r>
              <a:rPr lang="en-US" sz="1100" b="1" dirty="0">
                <a:solidFill>
                  <a:srgbClr val="FFFFFF"/>
                </a:solidFill>
                <a:latin typeface="Arial Black" pitchFamily="34" charset="0"/>
                <a:ea typeface="Arial Black" pitchFamily="34" charset="-122"/>
                <a:cs typeface="Arial Black" pitchFamily="34" charset="-120"/>
              </a:rPr>
              <a:t>Self-Improving</a:t>
            </a:r>
            <a:endParaRPr lang="en-US" sz="1100" dirty="0"/>
          </a:p>
        </p:txBody>
      </p:sp>
      <p:sp>
        <p:nvSpPr>
          <p:cNvPr id="13" name="Text 11"/>
          <p:cNvSpPr/>
          <p:nvPr/>
        </p:nvSpPr>
        <p:spPr>
          <a:xfrm>
            <a:off x="1051560" y="4480560"/>
            <a:ext cx="1828800" cy="41148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Accumulates knowledge</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across every run</a:t>
            </a:r>
            <a:endParaRPr lang="en-US" sz="950" dirty="0"/>
          </a:p>
        </p:txBody>
      </p:sp>
      <p:sp>
        <p:nvSpPr>
          <p:cNvPr id="14" name="Shape 12"/>
          <p:cNvSpPr/>
          <p:nvPr/>
        </p:nvSpPr>
        <p:spPr>
          <a:xfrm>
            <a:off x="3246120" y="4160520"/>
            <a:ext cx="2651760" cy="82296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5" name="Shape 13"/>
          <p:cNvSpPr/>
          <p:nvPr/>
        </p:nvSpPr>
        <p:spPr>
          <a:xfrm>
            <a:off x="3374136" y="4352544"/>
            <a:ext cx="438912" cy="438912"/>
          </a:xfrm>
          <a:prstGeom prst="ellipse">
            <a:avLst/>
          </a:prstGeom>
          <a:solidFill>
            <a:srgbClr val="E85D04"/>
          </a:solidFill>
          <a:ln/>
        </p:spPr>
      </p:sp>
      <p:sp>
        <p:nvSpPr>
          <p:cNvPr id="16" name="Text 14"/>
          <p:cNvSpPr/>
          <p:nvPr/>
        </p:nvSpPr>
        <p:spPr>
          <a:xfrm>
            <a:off x="3374136" y="4325112"/>
            <a:ext cx="438912" cy="36576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7" name="Text 15"/>
          <p:cNvSpPr/>
          <p:nvPr/>
        </p:nvSpPr>
        <p:spPr>
          <a:xfrm>
            <a:off x="3931920" y="4206240"/>
            <a:ext cx="1828800" cy="256032"/>
          </a:xfrm>
          <a:prstGeom prst="rect">
            <a:avLst/>
          </a:prstGeom>
          <a:noFill/>
          <a:ln/>
        </p:spPr>
        <p:txBody>
          <a:bodyPr wrap="square" lIns="0" tIns="0" rIns="0" bIns="0" rtlCol="0" anchor="ctr"/>
          <a:lstStyle/>
          <a:p>
            <a:pPr indent="0" marL="0">
              <a:buNone/>
            </a:pPr>
            <a:r>
              <a:rPr lang="en-US" sz="1100" b="1" dirty="0">
                <a:solidFill>
                  <a:srgbClr val="FFFFFF"/>
                </a:solidFill>
                <a:latin typeface="Arial Black" pitchFamily="34" charset="0"/>
                <a:ea typeface="Arial Black" pitchFamily="34" charset="-122"/>
                <a:cs typeface="Arial Black" pitchFamily="34" charset="-120"/>
              </a:rPr>
              <a:t>Low Cost</a:t>
            </a:r>
            <a:endParaRPr lang="en-US" sz="1100" dirty="0"/>
          </a:p>
        </p:txBody>
      </p:sp>
      <p:sp>
        <p:nvSpPr>
          <p:cNvPr id="18" name="Text 16"/>
          <p:cNvSpPr/>
          <p:nvPr/>
        </p:nvSpPr>
        <p:spPr>
          <a:xfrm>
            <a:off x="3931920" y="4480560"/>
            <a:ext cx="1828800" cy="41148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$2–5 per full</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pipeline execution</a:t>
            </a:r>
            <a:endParaRPr lang="en-US" sz="950" dirty="0"/>
          </a:p>
        </p:txBody>
      </p:sp>
      <p:sp>
        <p:nvSpPr>
          <p:cNvPr id="19" name="Shape 17"/>
          <p:cNvSpPr/>
          <p:nvPr/>
        </p:nvSpPr>
        <p:spPr>
          <a:xfrm>
            <a:off x="6126480" y="4160520"/>
            <a:ext cx="2651760" cy="82296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20" name="Shape 18"/>
          <p:cNvSpPr/>
          <p:nvPr/>
        </p:nvSpPr>
        <p:spPr>
          <a:xfrm>
            <a:off x="6254496" y="4352544"/>
            <a:ext cx="438912" cy="438912"/>
          </a:xfrm>
          <a:prstGeom prst="ellipse">
            <a:avLst/>
          </a:prstGeom>
          <a:solidFill>
            <a:srgbClr val="E85D04"/>
          </a:solidFill>
          <a:ln/>
        </p:spPr>
      </p:sp>
      <p:sp>
        <p:nvSpPr>
          <p:cNvPr id="21" name="Text 19"/>
          <p:cNvSpPr/>
          <p:nvPr/>
        </p:nvSpPr>
        <p:spPr>
          <a:xfrm>
            <a:off x="6254496" y="4325112"/>
            <a:ext cx="438912" cy="36576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2" name="Text 20"/>
          <p:cNvSpPr/>
          <p:nvPr/>
        </p:nvSpPr>
        <p:spPr>
          <a:xfrm>
            <a:off x="6812280" y="4206240"/>
            <a:ext cx="1828800" cy="256032"/>
          </a:xfrm>
          <a:prstGeom prst="rect">
            <a:avLst/>
          </a:prstGeom>
          <a:noFill/>
          <a:ln/>
        </p:spPr>
        <p:txBody>
          <a:bodyPr wrap="square" lIns="0" tIns="0" rIns="0" bIns="0" rtlCol="0" anchor="ctr"/>
          <a:lstStyle/>
          <a:p>
            <a:pPr indent="0" marL="0">
              <a:buNone/>
            </a:pPr>
            <a:r>
              <a:rPr lang="en-US" sz="1100" b="1" dirty="0">
                <a:solidFill>
                  <a:srgbClr val="FFFFFF"/>
                </a:solidFill>
                <a:latin typeface="Arial Black" pitchFamily="34" charset="0"/>
                <a:ea typeface="Arial Black" pitchFamily="34" charset="-122"/>
                <a:cs typeface="Arial Black" pitchFamily="34" charset="-120"/>
              </a:rPr>
              <a:t>Generalizable</a:t>
            </a:r>
            <a:endParaRPr lang="en-US" sz="1100" dirty="0"/>
          </a:p>
        </p:txBody>
      </p:sp>
      <p:sp>
        <p:nvSpPr>
          <p:cNvPr id="23" name="Text 21"/>
          <p:cNvSpPr/>
          <p:nvPr/>
        </p:nvSpPr>
        <p:spPr>
          <a:xfrm>
            <a:off x="6812280" y="4480560"/>
            <a:ext cx="1828800" cy="41148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Swap NBA for</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any domain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Predicto — Autonomous NBA Prediction via Multi-Agent AI</dc:title>
  <dc:subject>PptxGenJS Presentation</dc:subject>
  <dc:creator>Predicto</dc:creator>
  <cp:lastModifiedBy>Predicto</cp:lastModifiedBy>
  <cp:revision>1</cp:revision>
  <dcterms:created xsi:type="dcterms:W3CDTF">2026-04-26T14:27:30Z</dcterms:created>
  <dcterms:modified xsi:type="dcterms:W3CDTF">2026-04-26T14:27:30Z</dcterms:modified>
</cp:coreProperties>
</file>